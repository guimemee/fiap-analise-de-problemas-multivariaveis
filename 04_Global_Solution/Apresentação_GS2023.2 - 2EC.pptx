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2"/>
  </p:notesMasterIdLst>
  <p:sldIdLst>
    <p:sldId id="526" r:id="rId5"/>
    <p:sldId id="287" r:id="rId6"/>
    <p:sldId id="543" r:id="rId7"/>
    <p:sldId id="421" r:id="rId8"/>
    <p:sldId id="372" r:id="rId9"/>
    <p:sldId id="544" r:id="rId10"/>
    <p:sldId id="538" r:id="rId11"/>
    <p:sldId id="540" r:id="rId12"/>
    <p:sldId id="432" r:id="rId13"/>
    <p:sldId id="546" r:id="rId14"/>
    <p:sldId id="536" r:id="rId15"/>
    <p:sldId id="460" r:id="rId16"/>
    <p:sldId id="459" r:id="rId17"/>
    <p:sldId id="545" r:id="rId18"/>
    <p:sldId id="492" r:id="rId19"/>
    <p:sldId id="493" r:id="rId20"/>
    <p:sldId id="547" r:id="rId21"/>
    <p:sldId id="434" r:id="rId22"/>
    <p:sldId id="440" r:id="rId23"/>
    <p:sldId id="435" r:id="rId24"/>
    <p:sldId id="436" r:id="rId25"/>
    <p:sldId id="437" r:id="rId26"/>
    <p:sldId id="438" r:id="rId27"/>
    <p:sldId id="439" r:id="rId28"/>
    <p:sldId id="462" r:id="rId29"/>
    <p:sldId id="265" r:id="rId30"/>
    <p:sldId id="277" r:id="rId31"/>
  </p:sldIdLst>
  <p:sldSz cx="9144000" cy="5143500" type="screen16x9"/>
  <p:notesSz cx="6858000" cy="9144000"/>
  <p:defaultTextStyle>
    <a:defPPr marL="0" marR="0" indent="0" algn="l" defTabSz="3429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75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30807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85725" algn="ctr" defTabSz="30807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171450" algn="ctr" defTabSz="30807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257175" algn="ctr" defTabSz="30807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342900" algn="ctr" defTabSz="30807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428625" algn="ctr" defTabSz="30807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514350" algn="ctr" defTabSz="30807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600075" algn="ctr" defTabSz="30807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685800" algn="ctr" defTabSz="30807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5A"/>
    <a:srgbClr val="92A3AD"/>
    <a:srgbClr val="EDEDED"/>
    <a:srgbClr val="000000"/>
    <a:srgbClr val="E4E4E4"/>
    <a:srgbClr val="232628"/>
    <a:srgbClr val="161717"/>
    <a:srgbClr val="191A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6C40C0-8604-4682-9AC3-9891597A0BD0}" v="1" dt="2023-11-12T20:47:06.37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6" autoAdjust="0"/>
    <p:restoredTop sz="99869" autoAdjust="0"/>
  </p:normalViewPr>
  <p:slideViewPr>
    <p:cSldViewPr snapToGrid="0" snapToObjects="1">
      <p:cViewPr>
        <p:scale>
          <a:sx n="75" d="100"/>
          <a:sy n="75" d="100"/>
        </p:scale>
        <p:origin x="1656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79" d="100"/>
        <a:sy n="279" d="100"/>
      </p:scale>
      <p:origin x="0" y="91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ro Ferraz" userId="5a4f57c57c02360b" providerId="LiveId" clId="{796C40C0-8604-4682-9AC3-9891597A0BD0}"/>
    <pc:docChg chg="custSel modSld">
      <pc:chgData name="Sandro Ferraz" userId="5a4f57c57c02360b" providerId="LiveId" clId="{796C40C0-8604-4682-9AC3-9891597A0BD0}" dt="2023-11-12T20:56:31.695" v="287" actId="255"/>
      <pc:docMkLst>
        <pc:docMk/>
      </pc:docMkLst>
      <pc:sldChg chg="modSp mod">
        <pc:chgData name="Sandro Ferraz" userId="5a4f57c57c02360b" providerId="LiveId" clId="{796C40C0-8604-4682-9AC3-9891597A0BD0}" dt="2023-11-12T20:40:52.396" v="3" actId="14100"/>
        <pc:sldMkLst>
          <pc:docMk/>
          <pc:sldMk cId="1295314910" sldId="432"/>
        </pc:sldMkLst>
        <pc:spChg chg="mod">
          <ac:chgData name="Sandro Ferraz" userId="5a4f57c57c02360b" providerId="LiveId" clId="{796C40C0-8604-4682-9AC3-9891597A0BD0}" dt="2023-11-12T20:40:52.396" v="3" actId="14100"/>
          <ac:spMkLst>
            <pc:docMk/>
            <pc:sldMk cId="1295314910" sldId="432"/>
            <ac:spMk id="2" creationId="{3F6F32D8-06A6-5750-0370-0BCF71527B43}"/>
          </ac:spMkLst>
        </pc:spChg>
      </pc:sldChg>
      <pc:sldChg chg="modSp mod">
        <pc:chgData name="Sandro Ferraz" userId="5a4f57c57c02360b" providerId="LiveId" clId="{796C40C0-8604-4682-9AC3-9891597A0BD0}" dt="2023-11-12T20:50:38.693" v="78"/>
        <pc:sldMkLst>
          <pc:docMk/>
          <pc:sldMk cId="1596786950" sldId="434"/>
        </pc:sldMkLst>
        <pc:spChg chg="mod">
          <ac:chgData name="Sandro Ferraz" userId="5a4f57c57c02360b" providerId="LiveId" clId="{796C40C0-8604-4682-9AC3-9891597A0BD0}" dt="2023-11-12T20:50:12.593" v="77" actId="20577"/>
          <ac:spMkLst>
            <pc:docMk/>
            <pc:sldMk cId="1596786950" sldId="434"/>
            <ac:spMk id="2" creationId="{8324E624-9912-4041-A9D0-33D6F6427837}"/>
          </ac:spMkLst>
        </pc:spChg>
        <pc:spChg chg="mod">
          <ac:chgData name="Sandro Ferraz" userId="5a4f57c57c02360b" providerId="LiveId" clId="{796C40C0-8604-4682-9AC3-9891597A0BD0}" dt="2023-11-12T20:50:38.693" v="78"/>
          <ac:spMkLst>
            <pc:docMk/>
            <pc:sldMk cId="1596786950" sldId="434"/>
            <ac:spMk id="5" creationId="{7A8957A1-B356-0B27-A415-35A6B5EB3CD5}"/>
          </ac:spMkLst>
        </pc:spChg>
      </pc:sldChg>
      <pc:sldChg chg="modSp mod">
        <pc:chgData name="Sandro Ferraz" userId="5a4f57c57c02360b" providerId="LiveId" clId="{796C40C0-8604-4682-9AC3-9891597A0BD0}" dt="2023-11-12T20:52:48.162" v="143"/>
        <pc:sldMkLst>
          <pc:docMk/>
          <pc:sldMk cId="786438493" sldId="435"/>
        </pc:sldMkLst>
        <pc:spChg chg="mod">
          <ac:chgData name="Sandro Ferraz" userId="5a4f57c57c02360b" providerId="LiveId" clId="{796C40C0-8604-4682-9AC3-9891597A0BD0}" dt="2023-11-12T20:52:48.162" v="143"/>
          <ac:spMkLst>
            <pc:docMk/>
            <pc:sldMk cId="786438493" sldId="435"/>
            <ac:spMk id="2" creationId="{72166B88-101F-B9AF-B5C2-CFF04188C866}"/>
          </ac:spMkLst>
        </pc:spChg>
        <pc:spChg chg="mod">
          <ac:chgData name="Sandro Ferraz" userId="5a4f57c57c02360b" providerId="LiveId" clId="{796C40C0-8604-4682-9AC3-9891597A0BD0}" dt="2023-11-12T20:52:26.317" v="142" actId="20577"/>
          <ac:spMkLst>
            <pc:docMk/>
            <pc:sldMk cId="786438493" sldId="435"/>
            <ac:spMk id="5" creationId="{C6EA0EC1-6376-4C6D-B525-13F9D273A9F3}"/>
          </ac:spMkLst>
        </pc:spChg>
      </pc:sldChg>
      <pc:sldChg chg="modSp mod">
        <pc:chgData name="Sandro Ferraz" userId="5a4f57c57c02360b" providerId="LiveId" clId="{796C40C0-8604-4682-9AC3-9891597A0BD0}" dt="2023-11-12T20:53:57.805" v="178"/>
        <pc:sldMkLst>
          <pc:docMk/>
          <pc:sldMk cId="1403848372" sldId="436"/>
        </pc:sldMkLst>
        <pc:spChg chg="mod">
          <ac:chgData name="Sandro Ferraz" userId="5a4f57c57c02360b" providerId="LiveId" clId="{796C40C0-8604-4682-9AC3-9891597A0BD0}" dt="2023-11-12T20:53:57.805" v="178"/>
          <ac:spMkLst>
            <pc:docMk/>
            <pc:sldMk cId="1403848372" sldId="436"/>
            <ac:spMk id="2" creationId="{AC47D47F-492D-B20D-97F3-825426D8BC42}"/>
          </ac:spMkLst>
        </pc:spChg>
        <pc:spChg chg="mod">
          <ac:chgData name="Sandro Ferraz" userId="5a4f57c57c02360b" providerId="LiveId" clId="{796C40C0-8604-4682-9AC3-9891597A0BD0}" dt="2023-11-12T20:53:21.523" v="177" actId="20577"/>
          <ac:spMkLst>
            <pc:docMk/>
            <pc:sldMk cId="1403848372" sldId="436"/>
            <ac:spMk id="5" creationId="{9654FEE7-2DC2-4582-B29F-D38557BC5E33}"/>
          </ac:spMkLst>
        </pc:spChg>
      </pc:sldChg>
      <pc:sldChg chg="modSp mod">
        <pc:chgData name="Sandro Ferraz" userId="5a4f57c57c02360b" providerId="LiveId" clId="{796C40C0-8604-4682-9AC3-9891597A0BD0}" dt="2023-11-12T20:54:43.312" v="210"/>
        <pc:sldMkLst>
          <pc:docMk/>
          <pc:sldMk cId="2383517101" sldId="437"/>
        </pc:sldMkLst>
        <pc:spChg chg="mod">
          <ac:chgData name="Sandro Ferraz" userId="5a4f57c57c02360b" providerId="LiveId" clId="{796C40C0-8604-4682-9AC3-9891597A0BD0}" dt="2023-11-12T20:54:43.312" v="210"/>
          <ac:spMkLst>
            <pc:docMk/>
            <pc:sldMk cId="2383517101" sldId="437"/>
            <ac:spMk id="2" creationId="{91A4D1DB-F81B-1EF8-A329-7A6B0EECB77F}"/>
          </ac:spMkLst>
        </pc:spChg>
        <pc:spChg chg="mod">
          <ac:chgData name="Sandro Ferraz" userId="5a4f57c57c02360b" providerId="LiveId" clId="{796C40C0-8604-4682-9AC3-9891597A0BD0}" dt="2023-11-12T20:54:23.036" v="209" actId="20577"/>
          <ac:spMkLst>
            <pc:docMk/>
            <pc:sldMk cId="2383517101" sldId="437"/>
            <ac:spMk id="5" creationId="{60EF6D20-09C3-4A1B-A1B2-05825997EB27}"/>
          </ac:spMkLst>
        </pc:spChg>
      </pc:sldChg>
      <pc:sldChg chg="modSp mod">
        <pc:chgData name="Sandro Ferraz" userId="5a4f57c57c02360b" providerId="LiveId" clId="{796C40C0-8604-4682-9AC3-9891597A0BD0}" dt="2023-11-12T20:55:30.174" v="243"/>
        <pc:sldMkLst>
          <pc:docMk/>
          <pc:sldMk cId="4048229631" sldId="438"/>
        </pc:sldMkLst>
        <pc:spChg chg="mod">
          <ac:chgData name="Sandro Ferraz" userId="5a4f57c57c02360b" providerId="LiveId" clId="{796C40C0-8604-4682-9AC3-9891597A0BD0}" dt="2023-11-12T20:55:08.611" v="242" actId="20577"/>
          <ac:spMkLst>
            <pc:docMk/>
            <pc:sldMk cId="4048229631" sldId="438"/>
            <ac:spMk id="5" creationId="{2F89F5EF-56DA-4D9D-97AA-51E4D5E3816D}"/>
          </ac:spMkLst>
        </pc:spChg>
        <pc:spChg chg="mod">
          <ac:chgData name="Sandro Ferraz" userId="5a4f57c57c02360b" providerId="LiveId" clId="{796C40C0-8604-4682-9AC3-9891597A0BD0}" dt="2023-11-12T20:55:30.174" v="243"/>
          <ac:spMkLst>
            <pc:docMk/>
            <pc:sldMk cId="4048229631" sldId="438"/>
            <ac:spMk id="7" creationId="{A1967751-BAB9-4FA2-89B6-BDCC07157EBE}"/>
          </ac:spMkLst>
        </pc:spChg>
      </pc:sldChg>
      <pc:sldChg chg="modSp mod">
        <pc:chgData name="Sandro Ferraz" userId="5a4f57c57c02360b" providerId="LiveId" clId="{796C40C0-8604-4682-9AC3-9891597A0BD0}" dt="2023-11-12T20:56:31.695" v="287" actId="255"/>
        <pc:sldMkLst>
          <pc:docMk/>
          <pc:sldMk cId="3187299384" sldId="439"/>
        </pc:sldMkLst>
        <pc:spChg chg="mod">
          <ac:chgData name="Sandro Ferraz" userId="5a4f57c57c02360b" providerId="LiveId" clId="{796C40C0-8604-4682-9AC3-9891597A0BD0}" dt="2023-11-12T20:56:31.695" v="287" actId="255"/>
          <ac:spMkLst>
            <pc:docMk/>
            <pc:sldMk cId="3187299384" sldId="439"/>
            <ac:spMk id="2" creationId="{D1CCD0ED-11FC-A9CC-0469-5D768D9467AE}"/>
          </ac:spMkLst>
        </pc:spChg>
        <pc:spChg chg="mod">
          <ac:chgData name="Sandro Ferraz" userId="5a4f57c57c02360b" providerId="LiveId" clId="{796C40C0-8604-4682-9AC3-9891597A0BD0}" dt="2023-11-12T20:55:55.242" v="285" actId="20577"/>
          <ac:spMkLst>
            <pc:docMk/>
            <pc:sldMk cId="3187299384" sldId="439"/>
            <ac:spMk id="5" creationId="{D3300758-EB70-4B73-B7F3-6E2CC5E9C578}"/>
          </ac:spMkLst>
        </pc:spChg>
      </pc:sldChg>
      <pc:sldChg chg="modSp mod">
        <pc:chgData name="Sandro Ferraz" userId="5a4f57c57c02360b" providerId="LiveId" clId="{796C40C0-8604-4682-9AC3-9891597A0BD0}" dt="2023-11-12T20:51:55.396" v="116" actId="207"/>
        <pc:sldMkLst>
          <pc:docMk/>
          <pc:sldMk cId="2347222539" sldId="440"/>
        </pc:sldMkLst>
        <pc:spChg chg="mod">
          <ac:chgData name="Sandro Ferraz" userId="5a4f57c57c02360b" providerId="LiveId" clId="{796C40C0-8604-4682-9AC3-9891597A0BD0}" dt="2023-11-12T20:51:55.396" v="116" actId="207"/>
          <ac:spMkLst>
            <pc:docMk/>
            <pc:sldMk cId="2347222539" sldId="440"/>
            <ac:spMk id="2" creationId="{100BCADB-A552-2DEC-A089-5BDA8D5F095E}"/>
          </ac:spMkLst>
        </pc:spChg>
        <pc:spChg chg="mod">
          <ac:chgData name="Sandro Ferraz" userId="5a4f57c57c02360b" providerId="LiveId" clId="{796C40C0-8604-4682-9AC3-9891597A0BD0}" dt="2023-11-12T20:51:09.821" v="113" actId="20577"/>
          <ac:spMkLst>
            <pc:docMk/>
            <pc:sldMk cId="2347222539" sldId="440"/>
            <ac:spMk id="7" creationId="{8F98E499-24AA-C5F0-5449-4230AAF44445}"/>
          </ac:spMkLst>
        </pc:spChg>
      </pc:sldChg>
      <pc:sldChg chg="addSp delSp modSp mod delAnim modAnim">
        <pc:chgData name="Sandro Ferraz" userId="5a4f57c57c02360b" providerId="LiveId" clId="{796C40C0-8604-4682-9AC3-9891597A0BD0}" dt="2023-11-12T20:47:16.652" v="8" actId="14100"/>
        <pc:sldMkLst>
          <pc:docMk/>
          <pc:sldMk cId="2661562966" sldId="546"/>
        </pc:sldMkLst>
        <pc:picChg chg="del">
          <ac:chgData name="Sandro Ferraz" userId="5a4f57c57c02360b" providerId="LiveId" clId="{796C40C0-8604-4682-9AC3-9891597A0BD0}" dt="2023-11-12T20:46:45.422" v="4" actId="478"/>
          <ac:picMkLst>
            <pc:docMk/>
            <pc:sldMk cId="2661562966" sldId="546"/>
            <ac:picMk id="8" creationId="{8AD2F90E-752C-161E-F9BC-827E1012BCB1}"/>
          </ac:picMkLst>
        </pc:picChg>
        <pc:picChg chg="add mod">
          <ac:chgData name="Sandro Ferraz" userId="5a4f57c57c02360b" providerId="LiveId" clId="{796C40C0-8604-4682-9AC3-9891597A0BD0}" dt="2023-11-12T20:47:16.652" v="8" actId="14100"/>
          <ac:picMkLst>
            <pc:docMk/>
            <pc:sldMk cId="2661562966" sldId="546"/>
            <ac:picMk id="9" creationId="{7A3629CE-624F-7B24-D349-1F441AF1769E}"/>
          </ac:picMkLst>
        </pc:picChg>
      </pc:sldChg>
      <pc:sldChg chg="modSp mod">
        <pc:chgData name="Sandro Ferraz" userId="5a4f57c57c02360b" providerId="LiveId" clId="{796C40C0-8604-4682-9AC3-9891597A0BD0}" dt="2023-11-12T20:49:50.256" v="62" actId="1076"/>
        <pc:sldMkLst>
          <pc:docMk/>
          <pc:sldMk cId="395320233" sldId="547"/>
        </pc:sldMkLst>
        <pc:spChg chg="mod">
          <ac:chgData name="Sandro Ferraz" userId="5a4f57c57c02360b" providerId="LiveId" clId="{796C40C0-8604-4682-9AC3-9891597A0BD0}" dt="2023-11-12T20:49:44.325" v="61" actId="1076"/>
          <ac:spMkLst>
            <pc:docMk/>
            <pc:sldMk cId="395320233" sldId="547"/>
            <ac:spMk id="3" creationId="{2DC44501-CE44-034C-42A6-67EE7CF1A4CC}"/>
          </ac:spMkLst>
        </pc:spChg>
        <pc:spChg chg="mod">
          <ac:chgData name="Sandro Ferraz" userId="5a4f57c57c02360b" providerId="LiveId" clId="{796C40C0-8604-4682-9AC3-9891597A0BD0}" dt="2023-11-12T20:49:50.256" v="62" actId="1076"/>
          <ac:spMkLst>
            <pc:docMk/>
            <pc:sldMk cId="395320233" sldId="547"/>
            <ac:spMk id="7" creationId="{F6794BB6-CADC-4B4B-8375-7A12AD62A79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8" name="Shape 37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33720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1pPr>
    <a:lvl2pPr indent="85725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2pPr>
    <a:lvl3pPr indent="171450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3pPr>
    <a:lvl4pPr indent="257175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4pPr>
    <a:lvl5pPr indent="342900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5pPr>
    <a:lvl6pPr indent="428625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6pPr>
    <a:lvl7pPr indent="514350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7pPr>
    <a:lvl8pPr indent="600075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8pPr>
    <a:lvl9pPr indent="685800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34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8FD5D-A613-BC47-9BD3-7AF2BC6BED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38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33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-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o do Título"/>
          <p:cNvSpPr txBox="1">
            <a:spLocks noGrp="1"/>
          </p:cNvSpPr>
          <p:nvPr>
            <p:ph type="title"/>
          </p:nvPr>
        </p:nvSpPr>
        <p:spPr>
          <a:xfrm>
            <a:off x="1645295" y="234404"/>
            <a:ext cx="5853410" cy="72141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ED1C5A"/>
                </a:solidFill>
                <a:latin typeface="Gotham HTF Book" pitchFamily="50" charset="0"/>
              </a:defRPr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49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4400337" y="4878958"/>
            <a:ext cx="336631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A8A07F75-77A1-4DB3-81B7-126438ED4E2D}"/>
              </a:ext>
            </a:extLst>
          </p:cNvPr>
          <p:cNvGrpSpPr/>
          <p:nvPr userDrawn="1"/>
        </p:nvGrpSpPr>
        <p:grpSpPr>
          <a:xfrm>
            <a:off x="206087" y="237648"/>
            <a:ext cx="8742460" cy="4697041"/>
            <a:chOff x="206087" y="237647"/>
            <a:chExt cx="8742460" cy="4697041"/>
          </a:xfrm>
        </p:grpSpPr>
        <p:pic>
          <p:nvPicPr>
            <p:cNvPr id="5" name="Picture 6">
              <a:extLst>
                <a:ext uri="{FF2B5EF4-FFF2-40B4-BE49-F238E27FC236}">
                  <a16:creationId xmlns:a16="http://schemas.microsoft.com/office/drawing/2014/main" id="{9BCB0FE8-EE2E-4F9F-9C44-6EC4E56CD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6" name="Picture 7">
              <a:extLst>
                <a:ext uri="{FF2B5EF4-FFF2-40B4-BE49-F238E27FC236}">
                  <a16:creationId xmlns:a16="http://schemas.microsoft.com/office/drawing/2014/main" id="{8588ECBD-E43E-4579-A31B-14C29CDAD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/>
          </p:nvPr>
        </p:nvSpPr>
        <p:spPr>
          <a:xfrm>
            <a:off x="1812727" y="863947"/>
            <a:ext cx="5518547" cy="1741289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ED1C5A"/>
                </a:solidFill>
                <a:latin typeface="Gotham HTF Book" pitchFamily="50" charset="0"/>
              </a:defRPr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812727" y="2652117"/>
            <a:ext cx="5518547" cy="1627436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400">
                <a:solidFill>
                  <a:srgbClr val="92A3AD"/>
                </a:solidFill>
                <a:latin typeface="Gotham HTF Book" pitchFamily="50" charset="0"/>
              </a:defRPr>
            </a:lvl1pPr>
            <a:lvl2pPr marL="0" indent="85725" algn="ctr">
              <a:spcBef>
                <a:spcPts val="0"/>
              </a:spcBef>
              <a:buSzTx/>
              <a:buNone/>
              <a:defRPr sz="1400">
                <a:solidFill>
                  <a:srgbClr val="92A3AD"/>
                </a:solidFill>
                <a:latin typeface="Gotham HTF Book" pitchFamily="50" charset="0"/>
              </a:defRPr>
            </a:lvl2pPr>
            <a:lvl3pPr marL="0" indent="171450" algn="ctr">
              <a:spcBef>
                <a:spcPts val="0"/>
              </a:spcBef>
              <a:buSzTx/>
              <a:buNone/>
              <a:defRPr sz="1400">
                <a:solidFill>
                  <a:srgbClr val="92A3AD"/>
                </a:solidFill>
                <a:latin typeface="Gotham HTF Book" pitchFamily="50" charset="0"/>
              </a:defRPr>
            </a:lvl3pPr>
            <a:lvl4pPr marL="0" indent="257175" algn="ctr">
              <a:spcBef>
                <a:spcPts val="0"/>
              </a:spcBef>
              <a:buSzTx/>
              <a:buNone/>
              <a:defRPr sz="1400">
                <a:solidFill>
                  <a:srgbClr val="92A3AD"/>
                </a:solidFill>
                <a:latin typeface="Gotham HTF Book" pitchFamily="50" charset="0"/>
              </a:defRPr>
            </a:lvl4pPr>
            <a:lvl5pPr marL="0" indent="342900" algn="ctr">
              <a:spcBef>
                <a:spcPts val="0"/>
              </a:spcBef>
              <a:buSzTx/>
              <a:buNone/>
              <a:defRPr sz="1400">
                <a:solidFill>
                  <a:srgbClr val="92A3AD"/>
                </a:solidFill>
                <a:latin typeface="Gotham HTF Book" pitchFamily="50" charset="0"/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4400337" y="4878958"/>
            <a:ext cx="336631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C19A9F8F-1759-4D55-A848-19865BA60095}"/>
              </a:ext>
            </a:extLst>
          </p:cNvPr>
          <p:cNvGrpSpPr/>
          <p:nvPr userDrawn="1"/>
        </p:nvGrpSpPr>
        <p:grpSpPr>
          <a:xfrm>
            <a:off x="206087" y="237648"/>
            <a:ext cx="8742460" cy="4697041"/>
            <a:chOff x="206087" y="237647"/>
            <a:chExt cx="8742460" cy="4697041"/>
          </a:xfrm>
        </p:grpSpPr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109D9690-68BC-4DAA-950C-15577A390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7" name="Picture 7">
              <a:extLst>
                <a:ext uri="{FF2B5EF4-FFF2-40B4-BE49-F238E27FC236}">
                  <a16:creationId xmlns:a16="http://schemas.microsoft.com/office/drawing/2014/main" id="{94B043F3-61C3-4ED3-9EC3-CBEE69DA7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4400337" y="4878958"/>
            <a:ext cx="336631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A2C25FE0-692E-4A25-A208-01D7512DAA6C}"/>
              </a:ext>
            </a:extLst>
          </p:cNvPr>
          <p:cNvGrpSpPr/>
          <p:nvPr userDrawn="1"/>
        </p:nvGrpSpPr>
        <p:grpSpPr>
          <a:xfrm>
            <a:off x="206087" y="237648"/>
            <a:ext cx="8742460" cy="4697041"/>
            <a:chOff x="206087" y="237647"/>
            <a:chExt cx="8742460" cy="4697041"/>
          </a:xfrm>
        </p:grpSpPr>
        <p:pic>
          <p:nvPicPr>
            <p:cNvPr id="4" name="Picture 6">
              <a:extLst>
                <a:ext uri="{FF2B5EF4-FFF2-40B4-BE49-F238E27FC236}">
                  <a16:creationId xmlns:a16="http://schemas.microsoft.com/office/drawing/2014/main" id="{8961A231-2A26-4798-80AB-E459A6995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5" name="Picture 7">
              <a:extLst>
                <a:ext uri="{FF2B5EF4-FFF2-40B4-BE49-F238E27FC236}">
                  <a16:creationId xmlns:a16="http://schemas.microsoft.com/office/drawing/2014/main" id="{AC8D8F5C-8123-46A2-B5B5-26FCB8823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+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2C0BEA5B-4136-4393-A916-3C05049E8F56}"/>
              </a:ext>
            </a:extLst>
          </p:cNvPr>
          <p:cNvGrpSpPr/>
          <p:nvPr userDrawn="1"/>
        </p:nvGrpSpPr>
        <p:grpSpPr>
          <a:xfrm>
            <a:off x="206087" y="237648"/>
            <a:ext cx="8742460" cy="4697041"/>
            <a:chOff x="206087" y="237647"/>
            <a:chExt cx="8742460" cy="4697041"/>
          </a:xfrm>
        </p:grpSpPr>
        <p:pic>
          <p:nvPicPr>
            <p:cNvPr id="3" name="Picture 6">
              <a:extLst>
                <a:ext uri="{FF2B5EF4-FFF2-40B4-BE49-F238E27FC236}">
                  <a16:creationId xmlns:a16="http://schemas.microsoft.com/office/drawing/2014/main" id="{B2F82A28-6573-4A1A-90BF-5273F8885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4" name="Picture 7">
              <a:extLst>
                <a:ext uri="{FF2B5EF4-FFF2-40B4-BE49-F238E27FC236}">
                  <a16:creationId xmlns:a16="http://schemas.microsoft.com/office/drawing/2014/main" id="{00E61597-39EA-45EA-A531-EEBDED949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8894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F514-0F7B-4658-852D-A073968A6764}" type="datetimeFigureOut">
              <a:rPr lang="pt-BR" smtClean="0"/>
              <a:t>12/11/2023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25A02-80D1-4185-8534-67A2216917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991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AB1C09A1-93B2-5E48-80B4-EF0D0791D61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1"/>
            <a:ext cx="9144000" cy="5148263"/>
          </a:xfrm>
          <a:prstGeom prst="rect">
            <a:avLst/>
          </a:prstGeom>
        </p:spPr>
      </p:pic>
      <p:pic>
        <p:nvPicPr>
          <p:cNvPr id="16" name="Imagem 1">
            <a:extLst>
              <a:ext uri="{FF2B5EF4-FFF2-40B4-BE49-F238E27FC236}">
                <a16:creationId xmlns:a16="http://schemas.microsoft.com/office/drawing/2014/main" id="{B471016A-DF8A-4102-9E9F-55BFE5080C6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436" y="106126"/>
            <a:ext cx="853865" cy="2296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60" r:id="rId3"/>
    <p:sldLayoutId id="2147483688" r:id="rId4"/>
    <p:sldLayoutId id="2147483689" r:id="rId5"/>
  </p:sldLayoutIdLst>
  <p:transition spd="med"/>
  <p:txStyles>
    <p:titleStyle>
      <a:lvl1pPr marL="0" marR="0" indent="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85725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7145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257175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34290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428625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51435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600075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68580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231510" marR="0" indent="-231510" algn="l" defTabSz="308074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398198" marR="0" indent="-231510" algn="l" defTabSz="308074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564885" marR="0" indent="-231510" algn="l" defTabSz="308074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731573" marR="0" indent="-231510" algn="l" defTabSz="308074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898260" marR="0" indent="-231510" algn="l" defTabSz="308074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1064948" marR="0" indent="-231510" algn="l" defTabSz="308074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1231635" marR="0" indent="-231510" algn="l" defTabSz="308074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1398323" marR="0" indent="-231510" algn="l" defTabSz="308074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1565010" marR="0" indent="-231510" algn="l" defTabSz="308074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85725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7145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257175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34290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428625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51435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600075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68580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video" Target="https://www.youtube.com/embed/UinjeP-25FA?start=3&amp;feature=oembed" TargetMode="Externa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j5aP_5xmmQ8?start=11&amp;feature=oembed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EB774DB6-B9D4-4630-1271-62F5BCECA88B}"/>
              </a:ext>
            </a:extLst>
          </p:cNvPr>
          <p:cNvSpPr txBox="1"/>
          <p:nvPr/>
        </p:nvSpPr>
        <p:spPr>
          <a:xfrm>
            <a:off x="1959442" y="2198862"/>
            <a:ext cx="1507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spc="-150" dirty="0">
                <a:solidFill>
                  <a:srgbClr val="ED1C5A"/>
                </a:solidFill>
                <a:latin typeface="Gotham HTF Book"/>
                <a:cs typeface="Gotham HTF Book"/>
              </a:rPr>
              <a:t>GS 2023.2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9BE29A-BE4C-AB61-D802-217781D71552}"/>
              </a:ext>
            </a:extLst>
          </p:cNvPr>
          <p:cNvCxnSpPr/>
          <p:nvPr/>
        </p:nvCxnSpPr>
        <p:spPr>
          <a:xfrm>
            <a:off x="3359664" y="1916585"/>
            <a:ext cx="0" cy="972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FD21F07-AB9C-749D-EC9D-C4B9E9172A5B}"/>
              </a:ext>
            </a:extLst>
          </p:cNvPr>
          <p:cNvSpPr txBox="1"/>
          <p:nvPr/>
        </p:nvSpPr>
        <p:spPr>
          <a:xfrm>
            <a:off x="3359664" y="2198862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spc="-150" dirty="0">
                <a:solidFill>
                  <a:srgbClr val="91A3AD"/>
                </a:solidFill>
                <a:latin typeface="Gotham HTF Book"/>
                <a:cs typeface="Gotham HTF Book"/>
              </a:rPr>
              <a:t>ENGENHARIA DA COMPUTAÇÃO</a:t>
            </a:r>
          </a:p>
        </p:txBody>
      </p:sp>
    </p:spTree>
    <p:extLst>
      <p:ext uri="{BB962C8B-B14F-4D97-AF65-F5344CB8AC3E}">
        <p14:creationId xmlns:p14="http://schemas.microsoft.com/office/powerpoint/2010/main" val="880073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neon tunnel">
            <a:extLst>
              <a:ext uri="{FF2B5EF4-FFF2-40B4-BE49-F238E27FC236}">
                <a16:creationId xmlns:a16="http://schemas.microsoft.com/office/drawing/2014/main" id="{041C0C20-9B22-C3B3-F94F-26418559C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47650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DF46EFC-251E-F3E5-3B57-9639F8B4B301}"/>
              </a:ext>
            </a:extLst>
          </p:cNvPr>
          <p:cNvSpPr/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2E7A0F17-2AFE-3862-F70A-C202332BE89E}"/>
              </a:ext>
            </a:extLst>
          </p:cNvPr>
          <p:cNvSpPr txBox="1"/>
          <p:nvPr/>
        </p:nvSpPr>
        <p:spPr>
          <a:xfrm>
            <a:off x="1241426" y="1294477"/>
            <a:ext cx="69936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spc="-150" dirty="0">
                <a:solidFill>
                  <a:srgbClr val="ED1C5A"/>
                </a:solidFill>
                <a:latin typeface="Gotham HTF Book"/>
                <a:cs typeface="Gotham HTF Book"/>
              </a:rPr>
              <a:t>GLOBAL SOLUTION</a:t>
            </a:r>
            <a:r>
              <a:rPr lang="en-US" sz="2000" spc="-150" dirty="0">
                <a:solidFill>
                  <a:srgbClr val="91A3AD"/>
                </a:solidFill>
                <a:latin typeface="Gotham HTF Book"/>
                <a:cs typeface="Gotham HTF Book"/>
              </a:rPr>
              <a:t> É O MOMENTO DE COLOCAR EM PRÁTICA TODOS OS CONHECIMENTOS ADQUIRIDOS NO SEMESTRE</a:t>
            </a:r>
          </a:p>
          <a:p>
            <a:pPr algn="ctr"/>
            <a:endParaRPr lang="en-US" sz="2000" spc="-150" dirty="0">
              <a:solidFill>
                <a:srgbClr val="91A3AD"/>
              </a:solidFill>
              <a:latin typeface="Gotham HTF Book"/>
              <a:cs typeface="Gotham HTF Book"/>
            </a:endParaRPr>
          </a:p>
          <a:p>
            <a:pPr algn="ctr"/>
            <a:r>
              <a:rPr lang="en-US" sz="2000" spc="-150" dirty="0">
                <a:solidFill>
                  <a:srgbClr val="91A3AD"/>
                </a:solidFill>
                <a:latin typeface="Gotham HTF Book"/>
                <a:cs typeface="Gotham HTF Book"/>
              </a:rPr>
              <a:t> </a:t>
            </a:r>
            <a:r>
              <a:rPr lang="en-US" sz="2000" spc="-150" dirty="0">
                <a:solidFill>
                  <a:srgbClr val="ED1C5A"/>
                </a:solidFill>
                <a:latin typeface="Gotham HTF Book"/>
                <a:cs typeface="Gotham HTF Book"/>
              </a:rPr>
              <a:t>TODAS AS DISCIPLINAS VÃO TE DESAFIAR </a:t>
            </a:r>
            <a:r>
              <a:rPr lang="en-US" sz="2000" spc="-150" dirty="0">
                <a:solidFill>
                  <a:srgbClr val="91A3AD"/>
                </a:solidFill>
                <a:latin typeface="Gotham HTF Book"/>
                <a:cs typeface="Gotham HTF Book"/>
              </a:rPr>
              <a:t>A CRIAR SOLUÇÕES REAIS PARA O PROBLEMA PROPOSTO</a:t>
            </a:r>
          </a:p>
          <a:p>
            <a:pPr algn="ctr"/>
            <a:endParaRPr lang="en-US" sz="2000" spc="-150" dirty="0">
              <a:solidFill>
                <a:srgbClr val="91A3AD"/>
              </a:solidFill>
              <a:latin typeface="Gotham HTF Book"/>
              <a:cs typeface="Gotham HTF Book"/>
            </a:endParaRPr>
          </a:p>
          <a:p>
            <a:pPr algn="ctr"/>
            <a:r>
              <a:rPr lang="en-US" sz="2000" spc="-150" dirty="0">
                <a:solidFill>
                  <a:srgbClr val="91A3AD"/>
                </a:solidFill>
                <a:latin typeface="Gotham HTF Book"/>
                <a:cs typeface="Gotham HTF Book"/>
              </a:rPr>
              <a:t>ALÉM DOS ENTREGÁVEIS DAS DISCIPLINAS,  VOCÊ TERÁ QUE APRESENTAR UMA SOLUÇÃO AO </a:t>
            </a:r>
            <a:r>
              <a:rPr lang="en-US" sz="2000" spc="-150" dirty="0">
                <a:solidFill>
                  <a:srgbClr val="ED1C5A"/>
                </a:solidFill>
                <a:latin typeface="Gotham HTF Book"/>
                <a:cs typeface="Gotham HTF Book"/>
              </a:rPr>
              <a:t>DESAFIO HAPVIDA</a:t>
            </a:r>
            <a:endParaRPr lang="en-US" sz="2000" spc="-150" dirty="0">
              <a:solidFill>
                <a:srgbClr val="91A3AD"/>
              </a:solidFill>
              <a:latin typeface="Gotham HTF Book"/>
              <a:cs typeface="Gotham HTF Book"/>
            </a:endParaRPr>
          </a:p>
        </p:txBody>
      </p:sp>
    </p:spTree>
    <p:extLst>
      <p:ext uri="{BB962C8B-B14F-4D97-AF65-F5344CB8AC3E}">
        <p14:creationId xmlns:p14="http://schemas.microsoft.com/office/powerpoint/2010/main" val="192385322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61" y="1071422"/>
            <a:ext cx="2044892" cy="23972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760" y="1896157"/>
            <a:ext cx="2018746" cy="23972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1817665"/>
            <a:ext cx="5486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150" dirty="0">
                <a:solidFill>
                  <a:srgbClr val="91A3AD"/>
                </a:solidFill>
                <a:latin typeface="Gotham HTF Book"/>
                <a:cs typeface="Gotham HTF Book"/>
              </a:rPr>
              <a:t>VOCÊS SÃO OS </a:t>
            </a:r>
            <a:r>
              <a:rPr lang="en-US" sz="3200" spc="-150" dirty="0">
                <a:solidFill>
                  <a:srgbClr val="ED1C5A"/>
                </a:solidFill>
                <a:latin typeface="Gotham HTF Book"/>
                <a:cs typeface="Gotham HTF Book"/>
              </a:rPr>
              <a:t>PROTAGONISTAS</a:t>
            </a:r>
            <a:r>
              <a:rPr lang="en-US" sz="3200" spc="-150" dirty="0">
                <a:solidFill>
                  <a:srgbClr val="91A3AD"/>
                </a:solidFill>
                <a:latin typeface="Gotham HTF Book"/>
                <a:cs typeface="Gotham HTF Book"/>
              </a:rPr>
              <a:t> DO AMANHÃ</a:t>
            </a:r>
          </a:p>
        </p:txBody>
      </p:sp>
    </p:spTree>
    <p:extLst>
      <p:ext uri="{BB962C8B-B14F-4D97-AF65-F5344CB8AC3E}">
        <p14:creationId xmlns:p14="http://schemas.microsoft.com/office/powerpoint/2010/main" val="92412282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00409_fiap_site_home_vitrine_unidos_1920x1080_v2_imgBgTop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4177" y="2574171"/>
            <a:ext cx="7338869" cy="3039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b="1" dirty="0">
                <a:solidFill>
                  <a:srgbClr val="91A3AD"/>
                </a:solidFill>
                <a:latin typeface="Gotham HTF Light"/>
                <a:cs typeface="Gotham HTF Light"/>
              </a:rPr>
              <a:t>NOSSAS GRANDES ALIADAS PARA </a:t>
            </a:r>
            <a:r>
              <a:rPr lang="en-US" sz="1400" b="1" dirty="0">
                <a:solidFill>
                  <a:srgbClr val="ED1C5A"/>
                </a:solidFill>
                <a:latin typeface="Gotham HTF Light"/>
                <a:cs typeface="Gotham HTF Light"/>
              </a:rPr>
              <a:t>CRIAR UM NOVO E MELHOR AMANHÃ</a:t>
            </a:r>
            <a:r>
              <a:rPr lang="en-US" sz="1400" b="1" dirty="0">
                <a:solidFill>
                  <a:srgbClr val="91A3AD"/>
                </a:solidFill>
                <a:latin typeface="Gotham HTF Light"/>
                <a:cs typeface="Gotham HTF Light"/>
              </a:rPr>
              <a:t>.</a:t>
            </a:r>
            <a:endParaRPr lang="en-US" sz="1400" b="1" dirty="0">
              <a:solidFill>
                <a:srgbClr val="91A3AD"/>
              </a:solidFill>
              <a:latin typeface="Gotham HTF Bold"/>
              <a:cs typeface="Gotham HTF Bold"/>
            </a:endParaRPr>
          </a:p>
        </p:txBody>
      </p:sp>
      <p:sp>
        <p:nvSpPr>
          <p:cNvPr id="17" name="CaixaDeTexto 3"/>
          <p:cNvSpPr txBox="1"/>
          <p:nvPr/>
        </p:nvSpPr>
        <p:spPr>
          <a:xfrm>
            <a:off x="532947" y="2122677"/>
            <a:ext cx="8078106" cy="475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pt-BR" sz="2300" kern="1600" cap="all" dirty="0">
                <a:solidFill>
                  <a:srgbClr val="92A3AD"/>
                </a:solidFill>
                <a:latin typeface="Gotham HTF Book"/>
                <a:cs typeface="Gotham HTF Book"/>
              </a:rPr>
              <a:t>TECNOLOGIA, CIÊNCIA E HUMANIDADE</a:t>
            </a:r>
          </a:p>
        </p:txBody>
      </p:sp>
      <p:pic>
        <p:nvPicPr>
          <p:cNvPr id="13" name="Imagem 1">
            <a:extLst>
              <a:ext uri="{FF2B5EF4-FFF2-40B4-BE49-F238E27FC236}">
                <a16:creationId xmlns:a16="http://schemas.microsoft.com/office/drawing/2014/main" id="{135D7F61-411D-470C-A791-15B902D5E9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404" y="205772"/>
            <a:ext cx="849110" cy="22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3639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14">
            <a:extLst>
              <a:ext uri="{FF2B5EF4-FFF2-40B4-BE49-F238E27FC236}">
                <a16:creationId xmlns:a16="http://schemas.microsoft.com/office/drawing/2014/main" id="{AA5E2299-627C-0945-BDFF-350ED1D2E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621427" y="2983676"/>
            <a:ext cx="1327120" cy="1951012"/>
          </a:xfrm>
          <a:prstGeom prst="rect">
            <a:avLst/>
          </a:prstGeom>
        </p:spPr>
      </p:pic>
      <p:pic>
        <p:nvPicPr>
          <p:cNvPr id="30" name="Picture 15">
            <a:extLst>
              <a:ext uri="{FF2B5EF4-FFF2-40B4-BE49-F238E27FC236}">
                <a16:creationId xmlns:a16="http://schemas.microsoft.com/office/drawing/2014/main" id="{A239F2F3-3F8D-1E4B-AC19-953EB291D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06087" y="237647"/>
            <a:ext cx="2490655" cy="2180268"/>
          </a:xfrm>
          <a:prstGeom prst="rect">
            <a:avLst/>
          </a:prstGeom>
        </p:spPr>
      </p:pic>
      <p:sp>
        <p:nvSpPr>
          <p:cNvPr id="38" name="agenda da noite">
            <a:extLst>
              <a:ext uri="{FF2B5EF4-FFF2-40B4-BE49-F238E27FC236}">
                <a16:creationId xmlns:a16="http://schemas.microsoft.com/office/drawing/2014/main" id="{6296014A-AD16-164F-904A-7314971EC271}"/>
              </a:ext>
            </a:extLst>
          </p:cNvPr>
          <p:cNvSpPr txBox="1"/>
          <p:nvPr/>
        </p:nvSpPr>
        <p:spPr>
          <a:xfrm>
            <a:off x="2878542" y="907839"/>
            <a:ext cx="3292962" cy="331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 defTabSz="457200">
              <a:defRPr sz="4800" cap="all">
                <a:solidFill>
                  <a:srgbClr val="EE255F"/>
                </a:solidFill>
                <a:latin typeface="Gotham HTF Medium"/>
                <a:ea typeface="Gotham HTF Medium"/>
                <a:cs typeface="Gotham HTF Medium"/>
                <a:sym typeface="Gotham HTF Medium"/>
              </a:defRPr>
            </a:lvl1pPr>
          </a:lstStyle>
          <a:p>
            <a:pPr algn="ctr"/>
            <a:r>
              <a:rPr sz="1800" dirty="0"/>
              <a:t>agenda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4231054" y="2823726"/>
            <a:ext cx="681905" cy="0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231054" y="2105663"/>
            <a:ext cx="681905" cy="0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tângulo 4"/>
          <p:cNvSpPr/>
          <p:nvPr/>
        </p:nvSpPr>
        <p:spPr>
          <a:xfrm>
            <a:off x="1258224" y="2105663"/>
            <a:ext cx="6533600" cy="7180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91A3AD"/>
                </a:solidFill>
                <a:latin typeface="Gotham HTF Book"/>
                <a:cs typeface="Gotham HTF Book"/>
              </a:rPr>
              <a:t>CALENDÁRIO</a:t>
            </a:r>
          </a:p>
        </p:txBody>
      </p:sp>
      <p:sp>
        <p:nvSpPr>
          <p:cNvPr id="19" name="Retângulo 4"/>
          <p:cNvSpPr/>
          <p:nvPr/>
        </p:nvSpPr>
        <p:spPr>
          <a:xfrm>
            <a:off x="1258224" y="1387599"/>
            <a:ext cx="6533600" cy="7180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rgbClr val="91A3AD"/>
                </a:solidFill>
                <a:latin typeface="Gotham HTF Book"/>
                <a:cs typeface="Gotham HTF Book"/>
              </a:rPr>
              <a:t>DESAFIOS</a:t>
            </a:r>
          </a:p>
        </p:txBody>
      </p:sp>
      <p:sp>
        <p:nvSpPr>
          <p:cNvPr id="20" name="Retângulo 4"/>
          <p:cNvSpPr/>
          <p:nvPr/>
        </p:nvSpPr>
        <p:spPr>
          <a:xfrm>
            <a:off x="1258224" y="2823725"/>
            <a:ext cx="6533600" cy="7180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91A3AD"/>
                </a:solidFill>
                <a:latin typeface="Gotham HTF Book"/>
                <a:cs typeface="Gotham HTF Book"/>
              </a:rPr>
              <a:t>OS ENTREGÁVEIS</a:t>
            </a:r>
          </a:p>
        </p:txBody>
      </p:sp>
      <p:sp>
        <p:nvSpPr>
          <p:cNvPr id="2" name="Retângulo 4">
            <a:extLst>
              <a:ext uri="{FF2B5EF4-FFF2-40B4-BE49-F238E27FC236}">
                <a16:creationId xmlns:a16="http://schemas.microsoft.com/office/drawing/2014/main" id="{D0A73803-E3E7-45A4-9816-9BC2EE77F57C}"/>
              </a:ext>
            </a:extLst>
          </p:cNvPr>
          <p:cNvSpPr/>
          <p:nvPr/>
        </p:nvSpPr>
        <p:spPr>
          <a:xfrm>
            <a:off x="1305200" y="3447839"/>
            <a:ext cx="6533600" cy="7180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91A3AD"/>
                </a:solidFill>
                <a:latin typeface="Gotham HTF Book"/>
                <a:cs typeface="Gotham HTF Book"/>
              </a:rPr>
              <a:t>MOTIVAÇÃO</a:t>
            </a:r>
          </a:p>
        </p:txBody>
      </p:sp>
      <p:cxnSp>
        <p:nvCxnSpPr>
          <p:cNvPr id="12" name="Straight Connector 15">
            <a:extLst>
              <a:ext uri="{FF2B5EF4-FFF2-40B4-BE49-F238E27FC236}">
                <a16:creationId xmlns:a16="http://schemas.microsoft.com/office/drawing/2014/main" id="{6883FF37-45C3-4DB2-B024-3FFB5A8EDC64}"/>
              </a:ext>
            </a:extLst>
          </p:cNvPr>
          <p:cNvCxnSpPr/>
          <p:nvPr/>
        </p:nvCxnSpPr>
        <p:spPr>
          <a:xfrm>
            <a:off x="4184071" y="3527971"/>
            <a:ext cx="681905" cy="0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91133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DDD29-2E52-4E7E-8953-F53E27D27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727" y="2209509"/>
            <a:ext cx="5518547" cy="724481"/>
          </a:xfrm>
        </p:spPr>
        <p:txBody>
          <a:bodyPr/>
          <a:lstStyle/>
          <a:p>
            <a:r>
              <a:rPr lang="pt-BR" dirty="0"/>
              <a:t>DESAFIOS</a:t>
            </a: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3ACE0AD2-3882-4F66-9912-74AA3DC0A8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78" r="3718"/>
          <a:stretch/>
        </p:blipFill>
        <p:spPr>
          <a:xfrm>
            <a:off x="460029" y="511305"/>
            <a:ext cx="8284229" cy="412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70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E05E2F4-A569-320E-74B1-52732778D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Retângulo 4">
            <a:extLst>
              <a:ext uri="{FF2B5EF4-FFF2-40B4-BE49-F238E27FC236}">
                <a16:creationId xmlns:a16="http://schemas.microsoft.com/office/drawing/2014/main" id="{0D1E8A07-63CA-E5FD-E542-FDC76F7741D2}"/>
              </a:ext>
            </a:extLst>
          </p:cNvPr>
          <p:cNvSpPr/>
          <p:nvPr/>
        </p:nvSpPr>
        <p:spPr>
          <a:xfrm>
            <a:off x="280324" y="4168899"/>
            <a:ext cx="8571576" cy="7180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1400" b="1" dirty="0">
                <a:solidFill>
                  <a:srgbClr val="ED1C5A"/>
                </a:solidFill>
                <a:latin typeface="Gotham HTF Book"/>
                <a:cs typeface="Gotham HTF Book"/>
              </a:rPr>
              <a:t>DESAFIO HAPVIDA: </a:t>
            </a:r>
            <a:r>
              <a:rPr lang="pt-BR" sz="1400" b="1" dirty="0">
                <a:solidFill>
                  <a:srgbClr val="91A3AD"/>
                </a:solidFill>
                <a:latin typeface="Gotham HTF Book"/>
                <a:cs typeface="Gotham HTF Book"/>
              </a:rPr>
              <a:t>COMO AS TECNOLOGIAS EMERGENTES COMO INTELIGÊNCIA ARTIFICIAL, MACHINE LEARNING, ROBÓTICA, BIG DATA, ENTRE OUTRAS, PODEM AJUDAR A DESENVOLVER SOLUÇÕES INOVADORAS PARA PROMOVER O FUTURO DA SAÚDE NAS ÁREAS DE PREVENÇÃO, AUTOMAÇÃO E PRECISÃO?</a:t>
            </a:r>
          </a:p>
        </p:txBody>
      </p:sp>
    </p:spTree>
    <p:extLst>
      <p:ext uri="{BB962C8B-B14F-4D97-AF65-F5344CB8AC3E}">
        <p14:creationId xmlns:p14="http://schemas.microsoft.com/office/powerpoint/2010/main" val="281716182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794F2C4-300F-1CDD-9C29-4ABB8FA0D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2" name="agenda da noite">
            <a:extLst>
              <a:ext uri="{FF2B5EF4-FFF2-40B4-BE49-F238E27FC236}">
                <a16:creationId xmlns:a16="http://schemas.microsoft.com/office/drawing/2014/main" id="{1A0FBC88-F240-DAF2-4FC4-8432FBE67F34}"/>
              </a:ext>
            </a:extLst>
          </p:cNvPr>
          <p:cNvSpPr txBox="1"/>
          <p:nvPr/>
        </p:nvSpPr>
        <p:spPr>
          <a:xfrm>
            <a:off x="1249476" y="350824"/>
            <a:ext cx="6074958" cy="484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 defTabSz="457200">
              <a:defRPr sz="4800" cap="all">
                <a:solidFill>
                  <a:srgbClr val="EE255F"/>
                </a:solidFill>
                <a:latin typeface="Gotham HTF Medium"/>
                <a:ea typeface="Gotham HTF Medium"/>
                <a:cs typeface="Gotham HTF Medium"/>
                <a:sym typeface="Gotham HTF Medium"/>
              </a:defRPr>
            </a:lvl1pPr>
          </a:lstStyle>
          <a:p>
            <a:pPr algn="ctr"/>
            <a:r>
              <a:rPr lang="pt-BR" sz="2800" dirty="0"/>
              <a:t>Premiação – </a:t>
            </a:r>
            <a:r>
              <a:rPr lang="pt-BR" sz="2800" dirty="0">
                <a:solidFill>
                  <a:srgbClr val="91A3AD"/>
                </a:solidFill>
                <a:latin typeface="Gotham HTF Book"/>
                <a:cs typeface="Gotham HTF Book"/>
              </a:rPr>
              <a:t>Desafio HAPVIDA</a:t>
            </a:r>
            <a:r>
              <a:rPr lang="pt-BR" sz="2800" dirty="0"/>
              <a:t> </a:t>
            </a:r>
            <a:endParaRPr sz="28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7A03B5D-295C-60D6-608C-8B5489EB7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51" y="1076871"/>
            <a:ext cx="8249697" cy="371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04682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3CFEE49A-9252-4CD9-B51B-752BB889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036" y="329224"/>
            <a:ext cx="5853410" cy="721415"/>
          </a:xfrm>
        </p:spPr>
        <p:txBody>
          <a:bodyPr/>
          <a:lstStyle/>
          <a:p>
            <a:r>
              <a:rPr lang="pt-BR" sz="2000" b="1" dirty="0"/>
              <a:t>CASE NORTEADOR DAS DISCIPLINAS</a:t>
            </a:r>
          </a:p>
        </p:txBody>
      </p:sp>
      <p:sp>
        <p:nvSpPr>
          <p:cNvPr id="2" name="Retângulo 4">
            <a:extLst>
              <a:ext uri="{FF2B5EF4-FFF2-40B4-BE49-F238E27FC236}">
                <a16:creationId xmlns:a16="http://schemas.microsoft.com/office/drawing/2014/main" id="{3F6F32D8-06A6-5750-0370-0BCF71527B43}"/>
              </a:ext>
            </a:extLst>
          </p:cNvPr>
          <p:cNvSpPr/>
          <p:nvPr/>
        </p:nvSpPr>
        <p:spPr>
          <a:xfrm>
            <a:off x="254001" y="931091"/>
            <a:ext cx="8382000" cy="4197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algn="just"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 dos mercados mais emergentes mercados são roupas e tecidos para cuidados de saúde. É a ideia de tecer eletrônicos numa camiseta, cobertor, bandagem, gola de malha, calças e meias para realizar funções específicas de cuidados médicos ao usuário. Nada que é produzido pela indústria é mais íntimo das pessoas do que os tecidos. A roupa inteligente e o E-</a:t>
            </a:r>
            <a:r>
              <a:rPr lang="pt-BR" sz="1800" dirty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textiles</a:t>
            </a:r>
            <a:r>
              <a:rPr lang="pt-BR" sz="18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(tecido eletrônico), como um todo, ainda estão em sua infância, e as aplicações práticas que estão sendo usadas em hospitais e outras instalações de cuidados ainda são poucas. A roupa inteligente é vista como uma forma de revolucionar a prática de cuidados de saúde, e espera-se que um uso generalizado de roupas usadas para monitorar a saúde ou ajudar com o tratamento possa reduzir a dependência de equipamentos caros e dos centros médicos.</a:t>
            </a:r>
          </a:p>
          <a:p>
            <a:pPr marL="457200" algn="just">
              <a:lnSpc>
                <a:spcPct val="107000"/>
              </a:lnSpc>
              <a:spcAft>
                <a:spcPts val="800"/>
              </a:spcAft>
            </a:pPr>
            <a:endParaRPr lang="pt-BR" sz="1700" dirty="0">
              <a:solidFill>
                <a:schemeClr val="bg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31491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John Deere Trator Elétrico Autônomo - O futuro da agricultura!!">
            <a:hlinkClick r:id="" action="ppaction://media"/>
            <a:extLst>
              <a:ext uri="{FF2B5EF4-FFF2-40B4-BE49-F238E27FC236}">
                <a16:creationId xmlns:a16="http://schemas.microsoft.com/office/drawing/2014/main" id="{54FC89F9-BA12-E747-A3FA-8ACC4C7E01F8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978" end="25393.3281"/>
                </p14:media>
              </p:ext>
            </p:extLst>
          </p:nvPr>
        </p:nvPicPr>
        <p:blipFill>
          <a:blip r:embed="rId5">
            <a:lum bright="4000"/>
          </a:blip>
          <a:stretch>
            <a:fillRect/>
          </a:stretch>
        </p:blipFill>
        <p:spPr>
          <a:xfrm>
            <a:off x="0" y="-110533"/>
            <a:ext cx="9144000" cy="5143501"/>
          </a:xfrm>
          <a:prstGeom prst="rect">
            <a:avLst/>
          </a:prstGeom>
        </p:spPr>
      </p:pic>
      <p:pic>
        <p:nvPicPr>
          <p:cNvPr id="9" name="Mídia Online 8" title="Xenoma en CES 2018">
            <a:hlinkClick r:id="" action="ppaction://media"/>
            <a:extLst>
              <a:ext uri="{FF2B5EF4-FFF2-40B4-BE49-F238E27FC236}">
                <a16:creationId xmlns:a16="http://schemas.microsoft.com/office/drawing/2014/main" id="{7A3629CE-624F-7B24-D349-1F441AF1769E}"/>
              </a:ext>
            </a:extLst>
          </p:cNvPr>
          <p:cNvPicPr>
            <a:picLocks noRot="1" noChangeAspect="1"/>
          </p:cNvPicPr>
          <p:nvPr>
            <a:videoFile r:link="rId3"/>
          </p:nvPr>
        </p:nvPicPr>
        <p:blipFill>
          <a:blip r:embed="rId6"/>
          <a:stretch>
            <a:fillRect/>
          </a:stretch>
        </p:blipFill>
        <p:spPr>
          <a:xfrm>
            <a:off x="0" y="-110533"/>
            <a:ext cx="9103542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62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6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4">
            <a:extLst>
              <a:ext uri="{FF2B5EF4-FFF2-40B4-BE49-F238E27FC236}">
                <a16:creationId xmlns:a16="http://schemas.microsoft.com/office/drawing/2014/main" id="{842668EC-70B1-102F-0556-9803D148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5733" y="830608"/>
            <a:ext cx="5853410" cy="721415"/>
          </a:xfrm>
        </p:spPr>
        <p:txBody>
          <a:bodyPr/>
          <a:lstStyle/>
          <a:p>
            <a:r>
              <a:rPr lang="pt-BR" sz="2000" b="1" dirty="0">
                <a:solidFill>
                  <a:schemeClr val="bg1"/>
                </a:solidFill>
              </a:rPr>
              <a:t>INSPIRAÇÕES....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551C14-FB51-CD75-BC1F-7A9534412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728472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93769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32B6D-6970-4D86-9AA6-90084B02D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pic>
        <p:nvPicPr>
          <p:cNvPr id="7" name="Mídia Online 6" title="Nicole Scherzinger in first ever Twitter dress">
            <a:hlinkClick r:id="" action="ppaction://media"/>
            <a:extLst>
              <a:ext uri="{FF2B5EF4-FFF2-40B4-BE49-F238E27FC236}">
                <a16:creationId xmlns:a16="http://schemas.microsoft.com/office/drawing/2014/main" id="{B963FD4F-493D-F8F1-7E1A-5396FF3145B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33120" y="807720"/>
            <a:ext cx="7396480" cy="417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77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DDD29-2E52-4E7E-8953-F53E27D2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CALENDÁRIO</a:t>
            </a: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3ACE0AD2-3882-4F66-9912-74AA3DC0A8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78" r="3718"/>
          <a:stretch/>
        </p:blipFill>
        <p:spPr>
          <a:xfrm>
            <a:off x="859771" y="0"/>
            <a:ext cx="8284229" cy="412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498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90200DD-2899-46E0-2B60-455995B9E93F}"/>
              </a:ext>
            </a:extLst>
          </p:cNvPr>
          <p:cNvSpPr/>
          <p:nvPr/>
        </p:nvSpPr>
        <p:spPr>
          <a:xfrm>
            <a:off x="642133" y="1608597"/>
            <a:ext cx="732245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600" dirty="0">
              <a:solidFill>
                <a:srgbClr val="ED1C5A"/>
              </a:solidFill>
              <a:latin typeface="Gotham HTF Book" pitchFamily="50" charset="0"/>
            </a:endParaRPr>
          </a:p>
          <a:p>
            <a:r>
              <a:rPr lang="pt-BR" sz="1600" dirty="0">
                <a:solidFill>
                  <a:srgbClr val="ED1C5A"/>
                </a:solidFill>
                <a:latin typeface="Gotham HTF Book" pitchFamily="50" charset="0"/>
              </a:rPr>
              <a:t>13/11/2023 – </a:t>
            </a:r>
            <a:r>
              <a:rPr lang="pt-BR" sz="1600" dirty="0">
                <a:solidFill>
                  <a:srgbClr val="92A3AD"/>
                </a:solidFill>
                <a:latin typeface="Gotham HTF Book" pitchFamily="50" charset="0"/>
              </a:rPr>
              <a:t>APRESENTAÇÃO OFICIAL E ABERTURA DO GS2023.2</a:t>
            </a:r>
          </a:p>
          <a:p>
            <a:endParaRPr lang="pt-BR" sz="1600" dirty="0">
              <a:solidFill>
                <a:srgbClr val="92A3AD"/>
              </a:solidFill>
              <a:latin typeface="Gotham HTF Book" pitchFamily="50" charset="0"/>
            </a:endParaRPr>
          </a:p>
          <a:p>
            <a:r>
              <a:rPr lang="pt-BR" sz="1600" dirty="0">
                <a:solidFill>
                  <a:srgbClr val="ED1C5A"/>
                </a:solidFill>
                <a:latin typeface="Gotham HTF Book" pitchFamily="50" charset="0"/>
              </a:rPr>
              <a:t>14/11 À 11/06/2023 –</a:t>
            </a:r>
            <a:r>
              <a:rPr lang="pt-BR" sz="1600" dirty="0">
                <a:solidFill>
                  <a:srgbClr val="92A3AD"/>
                </a:solidFill>
                <a:latin typeface="Gotham HTF Book" pitchFamily="50" charset="0"/>
              </a:rPr>
              <a:t> PERÍODO DE DESENVOLVIMENTO DAS AVALIAÇÕES </a:t>
            </a:r>
          </a:p>
          <a:p>
            <a:endParaRPr lang="pt-BR" sz="1600" dirty="0">
              <a:solidFill>
                <a:srgbClr val="92A3AD"/>
              </a:solidFill>
              <a:latin typeface="Gotham HTF Book" pitchFamily="50" charset="0"/>
            </a:endParaRPr>
          </a:p>
          <a:p>
            <a:r>
              <a:rPr lang="pt-BR" sz="1600" dirty="0">
                <a:solidFill>
                  <a:srgbClr val="ED1C5A"/>
                </a:solidFill>
                <a:latin typeface="Gotham HTF Book" pitchFamily="50" charset="0"/>
              </a:rPr>
              <a:t>30/11/2023 – </a:t>
            </a:r>
            <a:r>
              <a:rPr lang="pt-BR" sz="1600" dirty="0">
                <a:solidFill>
                  <a:srgbClr val="92A3AD"/>
                </a:solidFill>
                <a:latin typeface="Gotham HTF Book" pitchFamily="50" charset="0"/>
              </a:rPr>
              <a:t>DIVULGAÇÃO OFICIAL DO RESULTADO DAS AVALIAÇÕES</a:t>
            </a:r>
          </a:p>
          <a:p>
            <a:endParaRPr lang="pt-BR" sz="1600" dirty="0">
              <a:solidFill>
                <a:srgbClr val="92A3AD"/>
              </a:solidFill>
              <a:latin typeface="Gotham HTF Book" pitchFamily="50" charset="0"/>
            </a:endParaRPr>
          </a:p>
          <a:p>
            <a:r>
              <a:rPr lang="pt-BR" sz="1600" dirty="0">
                <a:solidFill>
                  <a:srgbClr val="92A3AD"/>
                </a:solidFill>
                <a:latin typeface="Gotham HTF Book" pitchFamily="50" charset="0"/>
              </a:rPr>
              <a:t> </a:t>
            </a:r>
            <a:endParaRPr lang="pt-BR" sz="1600" dirty="0">
              <a:solidFill>
                <a:srgbClr val="ED1C5A"/>
              </a:solidFill>
              <a:latin typeface="Gotham HTF Boo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12702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3ACE0AD2-3882-4F66-9912-74AA3DC0A8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78" r="3718"/>
          <a:stretch/>
        </p:blipFill>
        <p:spPr>
          <a:xfrm>
            <a:off x="859771" y="0"/>
            <a:ext cx="8284229" cy="412088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7DDD29-2E52-4E7E-8953-F53E27D2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ENTREGÁVEIS</a:t>
            </a:r>
          </a:p>
        </p:txBody>
      </p:sp>
    </p:spTree>
    <p:extLst>
      <p:ext uri="{BB962C8B-B14F-4D97-AF65-F5344CB8AC3E}">
        <p14:creationId xmlns:p14="http://schemas.microsoft.com/office/powerpoint/2010/main" val="3734021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8F63AFE-172A-4057-848A-02D55C527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 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279DD2A-01E2-4C8A-8955-3A412274D9C1}"/>
              </a:ext>
            </a:extLst>
          </p:cNvPr>
          <p:cNvSpPr/>
          <p:nvPr/>
        </p:nvSpPr>
        <p:spPr>
          <a:xfrm>
            <a:off x="910772" y="595111"/>
            <a:ext cx="732245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600" dirty="0">
              <a:solidFill>
                <a:srgbClr val="ED1C5A"/>
              </a:solidFill>
              <a:latin typeface="Gotham HTF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dirty="0">
                <a:solidFill>
                  <a:srgbClr val="92A3AD"/>
                </a:solidFill>
                <a:latin typeface="Gotham HTF Book" pitchFamily="50" charset="0"/>
              </a:rPr>
              <a:t>CADA PROFESSOR </a:t>
            </a:r>
            <a:r>
              <a:rPr lang="pt-BR" sz="1600" dirty="0">
                <a:solidFill>
                  <a:srgbClr val="ED1C5A"/>
                </a:solidFill>
                <a:latin typeface="Gotham HTF Book" pitchFamily="50" charset="0"/>
              </a:rPr>
              <a:t>DEMANDARÁ UMA AVALIAÇÃO/ATIVIDADE ESPECÍFICA</a:t>
            </a:r>
            <a:r>
              <a:rPr lang="pt-BR" sz="1600" dirty="0">
                <a:solidFill>
                  <a:srgbClr val="92A3AD"/>
                </a:solidFill>
                <a:latin typeface="Gotham HTF Book" pitchFamily="50" charset="0"/>
              </a:rPr>
              <a:t>,  QUE ELE UTILIZARÁ PARA DAR A NOTA DE PS (PROVA SEMESTRAL).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sz="1600" dirty="0">
              <a:solidFill>
                <a:srgbClr val="92A3AD"/>
              </a:solidFill>
              <a:latin typeface="Gotham HTF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dirty="0">
                <a:solidFill>
                  <a:srgbClr val="92A3AD"/>
                </a:solidFill>
                <a:latin typeface="Gotham HTF Book" pitchFamily="50" charset="0"/>
              </a:rPr>
              <a:t>AS ENTREGAS DESSAS ATIVIDADES SERÃO OCORRERÃO PELO PORTAL DO ALUNO EM TRABALHOS, DIRETAMENTE PARA OS PROFESSORES DAS DISCIPLINAS 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sz="1600" dirty="0">
              <a:solidFill>
                <a:srgbClr val="92A3AD"/>
              </a:solidFill>
              <a:latin typeface="Gotham HTF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dirty="0">
                <a:solidFill>
                  <a:srgbClr val="ED1C5A"/>
                </a:solidFill>
                <a:latin typeface="Gotham HTF Book" pitchFamily="50" charset="0"/>
              </a:rPr>
              <a:t>A ENTREGA </a:t>
            </a:r>
            <a:r>
              <a:rPr lang="pt-BR" sz="1600" dirty="0">
                <a:solidFill>
                  <a:srgbClr val="92A3AD"/>
                </a:solidFill>
                <a:latin typeface="Gotham HTF Book" pitchFamily="50" charset="0"/>
              </a:rPr>
              <a:t>DE CADA DISCIPLINA </a:t>
            </a:r>
            <a:r>
              <a:rPr lang="pt-BR" sz="1600" dirty="0">
                <a:solidFill>
                  <a:srgbClr val="ED1C5A"/>
                </a:solidFill>
                <a:latin typeface="Gotham HTF Book" pitchFamily="50" charset="0"/>
              </a:rPr>
              <a:t>ACONTECE </a:t>
            </a:r>
            <a:r>
              <a:rPr lang="pt-BR" sz="1600" dirty="0">
                <a:solidFill>
                  <a:srgbClr val="92A3AD"/>
                </a:solidFill>
                <a:latin typeface="Gotham HTF Book" pitchFamily="50" charset="0"/>
              </a:rPr>
              <a:t>NO RESPECTIVO DIA DA AULA NA SEMANA DO DIA </a:t>
            </a:r>
            <a:r>
              <a:rPr lang="pt-BR" sz="1600" dirty="0">
                <a:solidFill>
                  <a:srgbClr val="ED1C5A"/>
                </a:solidFill>
                <a:latin typeface="Gotham HTF Book" pitchFamily="50" charset="0"/>
              </a:rPr>
              <a:t>20 A 24 DE NOVEMBRO.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sz="1600" dirty="0">
              <a:solidFill>
                <a:srgbClr val="ED1C5A"/>
              </a:solidFill>
              <a:latin typeface="Gotham HTF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dirty="0">
                <a:solidFill>
                  <a:srgbClr val="ED1C5A"/>
                </a:solidFill>
                <a:latin typeface="Gotham HTF Book" pitchFamily="50" charset="0"/>
              </a:rPr>
              <a:t>PARA CONCORRER AO PRÊMIO DA GLOBAL SOLUTION, </a:t>
            </a:r>
            <a:r>
              <a:rPr lang="pt-BR" sz="1600" dirty="0">
                <a:solidFill>
                  <a:srgbClr val="92A3AD"/>
                </a:solidFill>
                <a:latin typeface="Gotham HTF Book" pitchFamily="50" charset="0"/>
              </a:rPr>
              <a:t>UM VÍDEO PITCH DE ATÉ 3 MINUTOS COM UMA SOLUÇÃO DEVERÁ SER ENVIADO</a:t>
            </a:r>
            <a:r>
              <a:rPr lang="pt-BR" sz="1600" dirty="0">
                <a:solidFill>
                  <a:srgbClr val="ED1C5A"/>
                </a:solidFill>
                <a:latin typeface="Gotham HTF Book" pitchFamily="50" charset="0"/>
              </a:rPr>
              <a:t> TAMBÉM PELO PORTAL PARA O SCRUM MASTER.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sz="1600" dirty="0">
              <a:solidFill>
                <a:srgbClr val="ED1C5A"/>
              </a:solidFill>
              <a:latin typeface="Gotham HTF Book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dirty="0">
                <a:solidFill>
                  <a:srgbClr val="92A3AD"/>
                </a:solidFill>
                <a:latin typeface="Gotham HTF Book" pitchFamily="50" charset="0"/>
              </a:rPr>
              <a:t>A GLOBAL SOLUTION PODE SER REALIZADA EM </a:t>
            </a:r>
            <a:r>
              <a:rPr lang="pt-BR" sz="1600" dirty="0">
                <a:solidFill>
                  <a:srgbClr val="ED1C5A"/>
                </a:solidFill>
                <a:latin typeface="Gotham HTF Book" pitchFamily="50" charset="0"/>
              </a:rPr>
              <a:t>TRIO, DUPLA OU INDIVIDUALMENTE.</a:t>
            </a:r>
          </a:p>
        </p:txBody>
      </p:sp>
    </p:spTree>
    <p:extLst>
      <p:ext uri="{BB962C8B-B14F-4D97-AF65-F5344CB8AC3E}">
        <p14:creationId xmlns:p14="http://schemas.microsoft.com/office/powerpoint/2010/main" val="85199810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7B0E5D9-FF86-4348-B68F-AB04A1A8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DISCIPLINA 01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972F854-B1D3-46E1-AE2C-F95B17D5ED82}"/>
              </a:ext>
            </a:extLst>
          </p:cNvPr>
          <p:cNvSpPr/>
          <p:nvPr/>
        </p:nvSpPr>
        <p:spPr>
          <a:xfrm>
            <a:off x="1487892" y="4523749"/>
            <a:ext cx="6381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92A3AD"/>
                </a:solidFill>
                <a:latin typeface="Gotham HTF Book" pitchFamily="50" charset="0"/>
              </a:rPr>
              <a:t>Para mais informações, verifique no portal do aluno, na disciplina do professor ou diretamente com ele</a:t>
            </a:r>
            <a:endParaRPr lang="pt-BR" sz="1100" dirty="0">
              <a:solidFill>
                <a:srgbClr val="92A3AD"/>
              </a:solidFill>
              <a:latin typeface="Gotham HTF Book" pitchFamily="50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6794BB6-CADC-4B4B-8375-7A12AD62A794}"/>
              </a:ext>
            </a:extLst>
          </p:cNvPr>
          <p:cNvSpPr/>
          <p:nvPr/>
        </p:nvSpPr>
        <p:spPr>
          <a:xfrm>
            <a:off x="535039" y="1369379"/>
            <a:ext cx="6467707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pt-BR" sz="1800" dirty="0">
                <a:solidFill>
                  <a:srgbClr val="ED1C5A"/>
                </a:solidFill>
                <a:latin typeface="Gotham HTF Book" pitchFamily="50" charset="0"/>
              </a:rPr>
              <a:t>COMPUTAÇÃO QUÂNTICA E SUPERCOMPUTADORES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DC44501-CE44-034C-42A6-67EE7CF1A4CC}"/>
              </a:ext>
            </a:extLst>
          </p:cNvPr>
          <p:cNvSpPr txBox="1"/>
          <p:nvPr/>
        </p:nvSpPr>
        <p:spPr>
          <a:xfrm>
            <a:off x="646799" y="1740937"/>
            <a:ext cx="7993306" cy="28007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1600" cap="all" dirty="0">
                <a:solidFill>
                  <a:srgbClr val="FFFFFF"/>
                </a:solidFill>
                <a:latin typeface="Arial"/>
                <a:cs typeface="Arial"/>
              </a:rPr>
              <a:t>Conhecendo o que foi passado em aula, proponha um dos algoritmos quânticos que seja aplicado em </a:t>
            </a:r>
            <a:r>
              <a:rPr lang="pt-BR" sz="1600" cap="all" dirty="0" err="1">
                <a:solidFill>
                  <a:srgbClr val="FFFFFF"/>
                </a:solidFill>
                <a:latin typeface="Arial"/>
                <a:cs typeface="Arial"/>
              </a:rPr>
              <a:t>wearables</a:t>
            </a:r>
            <a:r>
              <a:rPr lang="pt-BR" sz="1600" cap="all" dirty="0">
                <a:solidFill>
                  <a:srgbClr val="FFFFFF"/>
                </a:solidFill>
                <a:latin typeface="Arial"/>
                <a:cs typeface="Arial"/>
              </a:rPr>
              <a:t> ou por </a:t>
            </a:r>
            <a:r>
              <a:rPr lang="pt-BR" sz="1600" cap="all" dirty="0" err="1">
                <a:solidFill>
                  <a:srgbClr val="FFFFFF"/>
                </a:solidFill>
                <a:latin typeface="Arial"/>
                <a:cs typeface="Arial"/>
              </a:rPr>
              <a:t>wearables</a:t>
            </a:r>
            <a:r>
              <a:rPr lang="pt-BR" sz="1600" cap="all" dirty="0">
                <a:solidFill>
                  <a:srgbClr val="FFFFFF"/>
                </a:solidFill>
                <a:latin typeface="Arial"/>
                <a:cs typeface="Arial"/>
              </a:rPr>
              <a:t> para auxiliar na saúde. Seu trabalho deve ter:</a:t>
            </a:r>
          </a:p>
          <a:p>
            <a:pPr algn="just"/>
            <a:endParaRPr lang="pt-BR" sz="1600" cap="all" dirty="0">
              <a:solidFill>
                <a:srgbClr val="FFFFFF"/>
              </a:solidFill>
              <a:latin typeface="Arial"/>
              <a:cs typeface="Arial"/>
            </a:endParaRPr>
          </a:p>
          <a:p>
            <a:pPr algn="just"/>
            <a:r>
              <a:rPr lang="pt-BR" sz="1600" cap="all" dirty="0">
                <a:solidFill>
                  <a:srgbClr val="FFFFFF"/>
                </a:solidFill>
                <a:latin typeface="Arial"/>
                <a:cs typeface="Arial"/>
              </a:rPr>
              <a:t>-O algoritmo escolhido</a:t>
            </a:r>
          </a:p>
          <a:p>
            <a:pPr algn="just"/>
            <a:r>
              <a:rPr lang="pt-BR" sz="1600" cap="all" dirty="0">
                <a:solidFill>
                  <a:srgbClr val="FFFFFF"/>
                </a:solidFill>
                <a:latin typeface="Arial"/>
                <a:cs typeface="Arial"/>
              </a:rPr>
              <a:t>-Um resumo do que o algoritmo faz</a:t>
            </a:r>
          </a:p>
          <a:p>
            <a:pPr algn="just"/>
            <a:r>
              <a:rPr lang="pt-BR" sz="1600" cap="all" dirty="0">
                <a:solidFill>
                  <a:srgbClr val="FFFFFF"/>
                </a:solidFill>
                <a:latin typeface="Arial"/>
                <a:cs typeface="Arial"/>
              </a:rPr>
              <a:t>-Uma proposta de onde pode ser aplicado</a:t>
            </a:r>
          </a:p>
          <a:p>
            <a:pPr algn="just"/>
            <a:r>
              <a:rPr lang="pt-BR" sz="1600" cap="all" dirty="0">
                <a:solidFill>
                  <a:srgbClr val="FFFFFF"/>
                </a:solidFill>
                <a:latin typeface="Arial"/>
                <a:cs typeface="Arial"/>
              </a:rPr>
              <a:t>-Uma justificativa aprofundada para a escolha do algoritmo.</a:t>
            </a:r>
          </a:p>
          <a:p>
            <a:pPr algn="just"/>
            <a:endParaRPr lang="pt-BR" sz="1600" cap="all" dirty="0">
              <a:solidFill>
                <a:srgbClr val="FFFFFF"/>
              </a:solidFill>
              <a:latin typeface="Arial"/>
              <a:cs typeface="Arial"/>
            </a:endParaRPr>
          </a:p>
          <a:p>
            <a:pPr algn="just"/>
            <a:r>
              <a:rPr lang="pt-BR" sz="1600" cap="all" dirty="0">
                <a:solidFill>
                  <a:srgbClr val="FFFFFF"/>
                </a:solidFill>
                <a:latin typeface="Arial"/>
                <a:cs typeface="Arial"/>
              </a:rPr>
              <a:t>Você deve entregar um arquivo Word ou conforme requisitado pelo professor orientador.</a:t>
            </a:r>
            <a:endParaRPr lang="pt-BR" sz="1600" cap="all" dirty="0"/>
          </a:p>
        </p:txBody>
      </p:sp>
    </p:spTree>
    <p:extLst>
      <p:ext uri="{BB962C8B-B14F-4D97-AF65-F5344CB8AC3E}">
        <p14:creationId xmlns:p14="http://schemas.microsoft.com/office/powerpoint/2010/main" val="395320233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7B0E5D9-FF86-4348-B68F-AB04A1A8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DISCIPLINA 02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4EC161E-CF9B-4557-89E2-A97E0B40C130}"/>
              </a:ext>
            </a:extLst>
          </p:cNvPr>
          <p:cNvSpPr/>
          <p:nvPr/>
        </p:nvSpPr>
        <p:spPr>
          <a:xfrm>
            <a:off x="1487892" y="4523749"/>
            <a:ext cx="6381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92A3AD"/>
                </a:solidFill>
                <a:latin typeface="Gotham HTF Book" pitchFamily="50" charset="0"/>
              </a:rPr>
              <a:t>Para mais informações, verifique no portal do aluno, na disciplina do professor ou diretamente com ele</a:t>
            </a:r>
            <a:endParaRPr lang="pt-BR" sz="1100" dirty="0">
              <a:solidFill>
                <a:srgbClr val="92A3AD"/>
              </a:solidFill>
              <a:latin typeface="Gotham HTF Book" pitchFamily="50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324E624-9912-4041-A9D0-33D6F6427837}"/>
              </a:ext>
            </a:extLst>
          </p:cNvPr>
          <p:cNvSpPr/>
          <p:nvPr/>
        </p:nvSpPr>
        <p:spPr>
          <a:xfrm>
            <a:off x="696839" y="1346705"/>
            <a:ext cx="6231939" cy="4001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2000" dirty="0">
                <a:solidFill>
                  <a:srgbClr val="ED1C5A"/>
                </a:solidFill>
                <a:latin typeface="Gotham HTF Book"/>
              </a:rPr>
              <a:t>DATABASE SESIGN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A8957A1-B356-0B27-A415-35A6B5EB3CD5}"/>
              </a:ext>
            </a:extLst>
          </p:cNvPr>
          <p:cNvSpPr txBox="1"/>
          <p:nvPr/>
        </p:nvSpPr>
        <p:spPr>
          <a:xfrm>
            <a:off x="697169" y="1892654"/>
            <a:ext cx="7742649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1800" cap="all" dirty="0">
                <a:solidFill>
                  <a:srgbClr val="FFFFFF"/>
                </a:solidFill>
                <a:latin typeface="Arial"/>
                <a:cs typeface="Arial"/>
              </a:rPr>
              <a:t>Manipulação de Dados no Banco de Dados de Informações Médicas dos Pacientes.</a:t>
            </a:r>
            <a:endParaRPr lang="pt-BR" sz="2000" dirty="0">
              <a:solidFill>
                <a:srgbClr val="444444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6786950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7B0E5D9-FF86-4348-B68F-AB04A1A8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DISCIPLINA 03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FD28D43-59EB-41A1-8289-D830E87F82B8}"/>
              </a:ext>
            </a:extLst>
          </p:cNvPr>
          <p:cNvSpPr/>
          <p:nvPr/>
        </p:nvSpPr>
        <p:spPr>
          <a:xfrm>
            <a:off x="1487892" y="4523749"/>
            <a:ext cx="6381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92A3AD"/>
                </a:solidFill>
                <a:latin typeface="Gotham HTF Book" pitchFamily="50" charset="0"/>
              </a:rPr>
              <a:t>Para mais informações, verifique no portal do aluno, na disciplina do professor ou diretamente com ele</a:t>
            </a:r>
            <a:endParaRPr lang="pt-BR" sz="1100" dirty="0">
              <a:solidFill>
                <a:srgbClr val="92A3AD"/>
              </a:solidFill>
              <a:latin typeface="Gotham HTF Book" pitchFamily="50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CC84101-2E48-4786-A730-8D00418059A2}"/>
              </a:ext>
            </a:extLst>
          </p:cNvPr>
          <p:cNvSpPr/>
          <p:nvPr/>
        </p:nvSpPr>
        <p:spPr>
          <a:xfrm>
            <a:off x="1398681" y="1386810"/>
            <a:ext cx="6231939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endParaRPr lang="pt-BR" sz="2000" dirty="0">
              <a:solidFill>
                <a:srgbClr val="ED1C5A"/>
              </a:solidFill>
              <a:latin typeface="Gotham HTF Book"/>
            </a:endParaRPr>
          </a:p>
          <a:p>
            <a:pPr algn="just"/>
            <a:endParaRPr lang="pt-BR" sz="1200" dirty="0">
              <a:solidFill>
                <a:schemeClr val="bg1">
                  <a:lumMod val="75000"/>
                </a:schemeClr>
              </a:solidFill>
              <a:latin typeface="Gotham HTF Book" pitchFamily="50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98E499-24AA-C5F0-5449-4230AAF44445}"/>
              </a:ext>
            </a:extLst>
          </p:cNvPr>
          <p:cNvSpPr/>
          <p:nvPr/>
        </p:nvSpPr>
        <p:spPr>
          <a:xfrm>
            <a:off x="737704" y="1349326"/>
            <a:ext cx="6467707" cy="4001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2000" dirty="0">
                <a:solidFill>
                  <a:srgbClr val="ED1C5A"/>
                </a:solidFill>
                <a:latin typeface="Gotham HTF Book"/>
              </a:rPr>
              <a:t>ANÁLISE DE PROBLEMAS MULTIVARIÁVEIS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00BCADB-A552-2DEC-A089-5BDA8D5F095E}"/>
              </a:ext>
            </a:extLst>
          </p:cNvPr>
          <p:cNvSpPr txBox="1"/>
          <p:nvPr/>
        </p:nvSpPr>
        <p:spPr>
          <a:xfrm>
            <a:off x="697169" y="1892654"/>
            <a:ext cx="7742649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1800" b="1" cap="all" dirty="0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Utilizar o Sistema de Lagrange (Máximos e Mínimos Condicionados/ Multiplicador de Lagrange) para maximizar o modelo matemático de duas variáveis proposto, relacionado ao tema. Estimativa de volume por meio de Integrais Múltiplas.</a:t>
            </a:r>
            <a:endParaRPr lang="pt-BR" sz="2000" dirty="0">
              <a:solidFill>
                <a:schemeClr val="bg1">
                  <a:lumMod val="95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7222539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7B0E5D9-FF86-4348-B68F-AB04A1A8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DISCIPLINA 04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ED759F2-B431-47AB-A872-9BD285BF11BB}"/>
              </a:ext>
            </a:extLst>
          </p:cNvPr>
          <p:cNvSpPr/>
          <p:nvPr/>
        </p:nvSpPr>
        <p:spPr>
          <a:xfrm>
            <a:off x="1487892" y="4523749"/>
            <a:ext cx="6381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92A3AD"/>
                </a:solidFill>
                <a:latin typeface="Gotham HTF Book" pitchFamily="50" charset="0"/>
              </a:rPr>
              <a:t>Para mais informações, verifique no portal do aluno, na disciplina do professor ou diretamente com ele</a:t>
            </a:r>
            <a:endParaRPr lang="pt-BR" sz="1100" dirty="0">
              <a:solidFill>
                <a:srgbClr val="92A3AD"/>
              </a:solidFill>
              <a:latin typeface="Gotham HTF Book" pitchFamily="50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6EA0EC1-6376-4C6D-B525-13F9D273A9F3}"/>
              </a:ext>
            </a:extLst>
          </p:cNvPr>
          <p:cNvSpPr/>
          <p:nvPr/>
        </p:nvSpPr>
        <p:spPr>
          <a:xfrm>
            <a:off x="704182" y="1392715"/>
            <a:ext cx="6231939" cy="4001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2000" dirty="0">
                <a:solidFill>
                  <a:srgbClr val="ED1C5A"/>
                </a:solidFill>
                <a:latin typeface="Gotham HTF Book"/>
              </a:rPr>
              <a:t>DATA SCIENCE FOR ENGINEERS</a:t>
            </a:r>
            <a:endParaRPr lang="pt-BR" sz="2000" dirty="0">
              <a:solidFill>
                <a:srgbClr val="ED1C5A"/>
              </a:solidFill>
              <a:latin typeface="Gotham HTF Book" pitchFamily="50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2166B88-101F-B9AF-B5C2-CFF04188C866}"/>
              </a:ext>
            </a:extLst>
          </p:cNvPr>
          <p:cNvSpPr txBox="1"/>
          <p:nvPr/>
        </p:nvSpPr>
        <p:spPr>
          <a:xfrm>
            <a:off x="697169" y="1892654"/>
            <a:ext cx="7742649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1800" cap="all" dirty="0">
                <a:solidFill>
                  <a:srgbClr val="FFFFFF"/>
                </a:solidFill>
                <a:latin typeface="Arial"/>
                <a:cs typeface="Arial"/>
              </a:rPr>
              <a:t>Encontrar a Regressão linear da temperatura corporal de uma pessoa, durante 24 </a:t>
            </a:r>
            <a:r>
              <a:rPr lang="pt-BR" sz="1800" cap="all" dirty="0" err="1">
                <a:solidFill>
                  <a:srgbClr val="FFFFFF"/>
                </a:solidFill>
                <a:latin typeface="Arial"/>
                <a:cs typeface="Arial"/>
              </a:rPr>
              <a:t>hrs</a:t>
            </a:r>
            <a:r>
              <a:rPr lang="pt-BR" sz="1800" cap="all" dirty="0">
                <a:solidFill>
                  <a:srgbClr val="FFFFFF"/>
                </a:solidFill>
                <a:latin typeface="Arial"/>
                <a:cs typeface="Arial"/>
              </a:rPr>
              <a:t>. Os dados são coletados por um </a:t>
            </a:r>
            <a:r>
              <a:rPr lang="pt-BR" sz="1800" cap="all" dirty="0" err="1">
                <a:solidFill>
                  <a:srgbClr val="FFFFFF"/>
                </a:solidFill>
                <a:latin typeface="Arial"/>
                <a:cs typeface="Arial"/>
              </a:rPr>
              <a:t>Smartshirts</a:t>
            </a:r>
            <a:r>
              <a:rPr lang="pt-BR" sz="1800" cap="all" dirty="0">
                <a:solidFill>
                  <a:srgbClr val="FFFFFF"/>
                </a:solidFill>
                <a:latin typeface="Arial"/>
                <a:cs typeface="Arial"/>
              </a:rPr>
              <a:t>. Além desta entrega, os grupos de alunos deverão entregar um vídeo </a:t>
            </a:r>
            <a:r>
              <a:rPr lang="pt-BR" sz="1800" cap="all" dirty="0" err="1">
                <a:solidFill>
                  <a:srgbClr val="FFFFFF"/>
                </a:solidFill>
                <a:latin typeface="Arial"/>
                <a:cs typeface="Arial"/>
              </a:rPr>
              <a:t>pitch</a:t>
            </a:r>
            <a:r>
              <a:rPr lang="pt-BR" sz="1800" cap="all" dirty="0">
                <a:solidFill>
                  <a:srgbClr val="FFFFFF"/>
                </a:solidFill>
                <a:latin typeface="Arial"/>
                <a:cs typeface="Arial"/>
              </a:rPr>
              <a:t> de até 3 min. de uma solução do tema.</a:t>
            </a:r>
            <a:endParaRPr lang="pt-BR" sz="2000" dirty="0">
              <a:solidFill>
                <a:srgbClr val="444444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6438493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7B0E5D9-FF86-4348-B68F-AB04A1A8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DISCIPLINA 05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FD0D007-BAFC-4E1E-87C6-F5FEB9C754A7}"/>
              </a:ext>
            </a:extLst>
          </p:cNvPr>
          <p:cNvSpPr/>
          <p:nvPr/>
        </p:nvSpPr>
        <p:spPr>
          <a:xfrm>
            <a:off x="1487892" y="4523749"/>
            <a:ext cx="6381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92A3AD"/>
                </a:solidFill>
                <a:latin typeface="Gotham HTF Book" pitchFamily="50" charset="0"/>
              </a:rPr>
              <a:t>Para mais informações, verifique no portal do aluno, na disciplina do professor ou diretamente com ele</a:t>
            </a:r>
            <a:endParaRPr lang="pt-BR" sz="1100" dirty="0">
              <a:solidFill>
                <a:srgbClr val="92A3AD"/>
              </a:solidFill>
              <a:latin typeface="Gotham HTF Book" pitchFamily="50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654FEE7-2DC2-4582-B29F-D38557BC5E33}"/>
              </a:ext>
            </a:extLst>
          </p:cNvPr>
          <p:cNvSpPr/>
          <p:nvPr/>
        </p:nvSpPr>
        <p:spPr>
          <a:xfrm>
            <a:off x="704182" y="1416956"/>
            <a:ext cx="6231939" cy="49244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2000" dirty="0">
                <a:solidFill>
                  <a:srgbClr val="ED1C5A"/>
                </a:solidFill>
                <a:latin typeface="Gotham HTF Book"/>
              </a:rPr>
              <a:t>ELECTRONICS ENGINEERING TECHNOLOGY</a:t>
            </a:r>
            <a:endParaRPr lang="pt-BR" dirty="0"/>
          </a:p>
          <a:p>
            <a:pPr algn="just"/>
            <a:endParaRPr lang="pt-BR" sz="600" dirty="0">
              <a:solidFill>
                <a:schemeClr val="bg1">
                  <a:lumMod val="75000"/>
                </a:schemeClr>
              </a:solidFill>
              <a:latin typeface="Gotham HTF Book" pitchFamily="50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C47D47F-492D-B20D-97F3-825426D8BC42}"/>
              </a:ext>
            </a:extLst>
          </p:cNvPr>
          <p:cNvSpPr txBox="1"/>
          <p:nvPr/>
        </p:nvSpPr>
        <p:spPr>
          <a:xfrm>
            <a:off x="697169" y="1892654"/>
            <a:ext cx="7742649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1800" cap="all" dirty="0">
                <a:solidFill>
                  <a:srgbClr val="FFFFFF"/>
                </a:solidFill>
                <a:latin typeface="Arial"/>
                <a:cs typeface="Arial"/>
              </a:rPr>
              <a:t>Desenvolva um protótipo de um equipamento eletromédico capaz de monitorar os sinais vitais com base em tecnologias vestíveis utilizando Arduino, LEDs e sensores de modo a demonstrar como essas tecnologias podem ser combinadas para criar um dispositivo útil e interativo, abrindo caminho para futuras pesquisas e inovações no campo dos </a:t>
            </a:r>
            <a:r>
              <a:rPr lang="pt-BR" sz="1800" cap="all" dirty="0" err="1">
                <a:solidFill>
                  <a:srgbClr val="FFFFFF"/>
                </a:solidFill>
                <a:latin typeface="Arial"/>
                <a:cs typeface="Arial"/>
              </a:rPr>
              <a:t>wearables</a:t>
            </a:r>
            <a:r>
              <a:rPr lang="pt-BR" sz="1800" cap="all" dirty="0">
                <a:solidFill>
                  <a:srgbClr val="FFFFFF"/>
                </a:solidFill>
                <a:latin typeface="Arial"/>
                <a:cs typeface="Arial"/>
              </a:rPr>
              <a:t> e da tecnologia vestível.</a:t>
            </a:r>
            <a:endParaRPr lang="pt-BR" sz="2000" dirty="0">
              <a:solidFill>
                <a:srgbClr val="444444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3848372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7B0E5D9-FF86-4348-B68F-AB04A1A8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DISCIPLINA 06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E8CDB94-527F-4031-BD4B-8220FFCC7E49}"/>
              </a:ext>
            </a:extLst>
          </p:cNvPr>
          <p:cNvSpPr/>
          <p:nvPr/>
        </p:nvSpPr>
        <p:spPr>
          <a:xfrm>
            <a:off x="1487892" y="4523749"/>
            <a:ext cx="6381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92A3AD"/>
                </a:solidFill>
                <a:latin typeface="Gotham HTF Book" pitchFamily="50" charset="0"/>
              </a:rPr>
              <a:t>Para mais informações, verifique no portal do aluno, na disciplina do professor ou diretamente com ele</a:t>
            </a:r>
            <a:endParaRPr lang="pt-BR" sz="1100" dirty="0">
              <a:solidFill>
                <a:srgbClr val="92A3AD"/>
              </a:solidFill>
              <a:latin typeface="Gotham HTF Book" pitchFamily="50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0EF6D20-09C3-4A1B-A1B2-05825997EB27}"/>
              </a:ext>
            </a:extLst>
          </p:cNvPr>
          <p:cNvSpPr/>
          <p:nvPr/>
        </p:nvSpPr>
        <p:spPr>
          <a:xfrm>
            <a:off x="697169" y="1454457"/>
            <a:ext cx="6773360" cy="4001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2000" dirty="0">
                <a:solidFill>
                  <a:srgbClr val="ED1C5A"/>
                </a:solidFill>
                <a:latin typeface="Gotham HTF Book"/>
              </a:rPr>
              <a:t>DESIGN DE CIRCUITOS ELETRÔNICOS</a:t>
            </a:r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1A4D1DB-F81B-1EF8-A329-7A6B0EECB77F}"/>
              </a:ext>
            </a:extLst>
          </p:cNvPr>
          <p:cNvSpPr txBox="1"/>
          <p:nvPr/>
        </p:nvSpPr>
        <p:spPr>
          <a:xfrm>
            <a:off x="697169" y="1892654"/>
            <a:ext cx="7742649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1800" cap="all" dirty="0">
                <a:solidFill>
                  <a:srgbClr val="FFFFFF"/>
                </a:solidFill>
                <a:latin typeface="Arial"/>
                <a:cs typeface="Arial"/>
              </a:rPr>
              <a:t>Roupas inteligentes exigirão a integração intensa de sensores para diversas finalidades, neste entregável os grupos serão desafiados a desenvolver um módulo de conversão AD com qualidades aprimoras, isto é, superiores àquelas dos conversores AD integrados aos microcontroladores.</a:t>
            </a:r>
            <a:endParaRPr lang="pt-BR" sz="2000" dirty="0">
              <a:solidFill>
                <a:srgbClr val="444444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3517101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7B0E5D9-FF86-4348-B68F-AB04A1A8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DISCIPLINA 07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0767497-CE18-4141-8704-6B7623D8A8AB}"/>
              </a:ext>
            </a:extLst>
          </p:cNvPr>
          <p:cNvSpPr/>
          <p:nvPr/>
        </p:nvSpPr>
        <p:spPr>
          <a:xfrm>
            <a:off x="1487892" y="4523749"/>
            <a:ext cx="6381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92A3AD"/>
                </a:solidFill>
                <a:latin typeface="Gotham HTF Book" pitchFamily="50" charset="0"/>
              </a:rPr>
              <a:t>Para mais informações, verifique no portal do aluno, na disciplina do professor ou diretamente com ele</a:t>
            </a:r>
            <a:endParaRPr lang="pt-BR" sz="1100" dirty="0">
              <a:solidFill>
                <a:srgbClr val="92A3AD"/>
              </a:solidFill>
              <a:latin typeface="Gotham HTF Book" pitchFamily="50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F89F5EF-56DA-4D9D-97AA-51E4D5E3816D}"/>
              </a:ext>
            </a:extLst>
          </p:cNvPr>
          <p:cNvSpPr/>
          <p:nvPr/>
        </p:nvSpPr>
        <p:spPr>
          <a:xfrm>
            <a:off x="704182" y="1386810"/>
            <a:ext cx="6231939" cy="67710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2000" dirty="0">
                <a:solidFill>
                  <a:srgbClr val="ED1C5A"/>
                </a:solidFill>
                <a:latin typeface="Gotham HTF Book"/>
              </a:rPr>
              <a:t>ALGORITMOS DE ALTA PERFORMANCE</a:t>
            </a:r>
            <a:endParaRPr lang="pt-BR" dirty="0"/>
          </a:p>
          <a:p>
            <a:pPr algn="just"/>
            <a:endParaRPr lang="pt-BR" sz="1800" dirty="0">
              <a:solidFill>
                <a:schemeClr val="bg1">
                  <a:lumMod val="75000"/>
                </a:schemeClr>
              </a:solidFill>
              <a:latin typeface="Gotham HTF Book" pitchFamily="50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1967751-BAB9-4FA2-89B6-BDCC07157EBE}"/>
              </a:ext>
            </a:extLst>
          </p:cNvPr>
          <p:cNvSpPr txBox="1"/>
          <p:nvPr/>
        </p:nvSpPr>
        <p:spPr>
          <a:xfrm>
            <a:off x="697169" y="1892654"/>
            <a:ext cx="7742649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1800" cap="all" dirty="0">
                <a:solidFill>
                  <a:srgbClr val="FFFFFF"/>
                </a:solidFill>
                <a:latin typeface="Arial"/>
                <a:cs typeface="Arial"/>
              </a:rPr>
              <a:t>O objetivo da atividade avaliativa é definir estruturas de dados que auxiliem em um sistema de coleta de dados obtidos por dispositivos </a:t>
            </a:r>
            <a:r>
              <a:rPr lang="pt-BR" sz="1800" cap="all" dirty="0" err="1">
                <a:solidFill>
                  <a:srgbClr val="FFFFFF"/>
                </a:solidFill>
                <a:latin typeface="Arial"/>
                <a:cs typeface="Arial"/>
              </a:rPr>
              <a:t>wearables</a:t>
            </a:r>
            <a:r>
              <a:rPr lang="pt-BR" sz="1800" cap="all" dirty="0">
                <a:solidFill>
                  <a:srgbClr val="FFFFFF"/>
                </a:solidFill>
                <a:latin typeface="Arial"/>
                <a:cs typeface="Arial"/>
              </a:rPr>
              <a:t> que auxiliem de forma inteligente o monitoramento de pessoas idosas ou que possuam algum tipo de vulnerabilidade de sua saúde física.</a:t>
            </a:r>
            <a:endParaRPr lang="pt-BR" sz="2000" dirty="0">
              <a:solidFill>
                <a:srgbClr val="444444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8229631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7B0E5D9-FF86-4348-B68F-AB04A1A8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DISCIPLINA 08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1C00499-FC11-4CA0-B4EF-3FF6332FE4B5}"/>
              </a:ext>
            </a:extLst>
          </p:cNvPr>
          <p:cNvSpPr/>
          <p:nvPr/>
        </p:nvSpPr>
        <p:spPr>
          <a:xfrm>
            <a:off x="1487892" y="4523749"/>
            <a:ext cx="6381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92A3AD"/>
                </a:solidFill>
                <a:latin typeface="Gotham HTF Book" pitchFamily="50" charset="0"/>
              </a:rPr>
              <a:t>Para mais informações, verifique no portal do aluno, na disciplina do professor ou diretamente com ele</a:t>
            </a:r>
            <a:endParaRPr lang="pt-BR" sz="1100" dirty="0">
              <a:solidFill>
                <a:srgbClr val="92A3AD"/>
              </a:solidFill>
              <a:latin typeface="Gotham HTF Book" pitchFamily="50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300758-EB70-4B73-B7F3-6E2CC5E9C578}"/>
              </a:ext>
            </a:extLst>
          </p:cNvPr>
          <p:cNvSpPr/>
          <p:nvPr/>
        </p:nvSpPr>
        <p:spPr>
          <a:xfrm>
            <a:off x="704182" y="1386810"/>
            <a:ext cx="6231939" cy="68865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2000" dirty="0">
                <a:solidFill>
                  <a:srgbClr val="ED1C5A"/>
                </a:solidFill>
                <a:latin typeface="Gotham HTF Book"/>
              </a:rPr>
              <a:t>TERMODINÂMICA, ELETRICIDADE E MAGNETISMO</a:t>
            </a:r>
            <a:endParaRPr lang="pt-BR" dirty="0"/>
          </a:p>
          <a:p>
            <a:pPr algn="just"/>
            <a:endParaRPr lang="pt-BR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1CCD0ED-11FC-A9CC-0469-5D768D9467AE}"/>
              </a:ext>
            </a:extLst>
          </p:cNvPr>
          <p:cNvSpPr txBox="1"/>
          <p:nvPr/>
        </p:nvSpPr>
        <p:spPr>
          <a:xfrm>
            <a:off x="697169" y="1892654"/>
            <a:ext cx="7742649" cy="2677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1400" cap="all" dirty="0">
                <a:solidFill>
                  <a:srgbClr val="FFFFFF"/>
                </a:solidFill>
                <a:latin typeface="Arial"/>
                <a:cs typeface="Arial"/>
              </a:rPr>
              <a:t>O desafio "Inovação em E-</a:t>
            </a:r>
            <a:r>
              <a:rPr lang="pt-BR" sz="1400" cap="all" dirty="0" err="1">
                <a:solidFill>
                  <a:srgbClr val="FFFFFF"/>
                </a:solidFill>
                <a:latin typeface="Arial"/>
                <a:cs typeface="Arial"/>
              </a:rPr>
              <a:t>textiles</a:t>
            </a:r>
            <a:r>
              <a:rPr lang="pt-BR" sz="1400" cap="all" dirty="0">
                <a:solidFill>
                  <a:srgbClr val="FFFFFF"/>
                </a:solidFill>
                <a:latin typeface="Arial"/>
                <a:cs typeface="Arial"/>
              </a:rPr>
              <a:t> para Cuidados de Saúde" visa estimular a criatividade e o pensamento interdisciplinar, unindo os princípios da termodinâmica, eletricidade e magnetismo à emergente tecnologia de E-</a:t>
            </a:r>
            <a:r>
              <a:rPr lang="pt-BR" sz="1400" cap="all" dirty="0" err="1">
                <a:solidFill>
                  <a:srgbClr val="FFFFFF"/>
                </a:solidFill>
                <a:latin typeface="Arial"/>
                <a:cs typeface="Arial"/>
              </a:rPr>
              <a:t>textiles</a:t>
            </a:r>
            <a:r>
              <a:rPr lang="pt-BR" sz="1400" cap="all" dirty="0">
                <a:solidFill>
                  <a:srgbClr val="FFFFFF"/>
                </a:solidFill>
                <a:latin typeface="Arial"/>
                <a:cs typeface="Arial"/>
              </a:rPr>
              <a:t>. Os participantes devem criar propostas de projetos de tecidos eletrônicos capazes de monitorar a saúde e fornecer cuidados médicos, incorporando eficiência energética e sustentabilidade. Através deste desafio, espera-se promover soluções inovadoras que tenham o potencial de revolucionar a prática de cuidados de saúde, tornando-a mais acessível e eficaz, e reduzindo a dependência de equipamentos médicos caros.  A avaliação se baseará na originalidade, aplicação dos conceitos estudados, eficiência e impacto potencial na área de cuidados de saúde.</a:t>
            </a:r>
            <a:endParaRPr lang="pt-BR" sz="1400" dirty="0">
              <a:solidFill>
                <a:srgbClr val="444444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7299384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5F7E262B-6765-D44E-A4AE-469FC12FA27F}"/>
              </a:ext>
            </a:extLst>
          </p:cNvPr>
          <p:cNvGrpSpPr/>
          <p:nvPr/>
        </p:nvGrpSpPr>
        <p:grpSpPr>
          <a:xfrm>
            <a:off x="206087" y="237648"/>
            <a:ext cx="8742460" cy="4697041"/>
            <a:chOff x="206087" y="237647"/>
            <a:chExt cx="8742460" cy="4697041"/>
          </a:xfrm>
        </p:grpSpPr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2BC1A292-2A87-9F40-8C10-1BE74FB74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7" name="Picture 7">
              <a:extLst>
                <a:ext uri="{FF2B5EF4-FFF2-40B4-BE49-F238E27FC236}">
                  <a16:creationId xmlns:a16="http://schemas.microsoft.com/office/drawing/2014/main" id="{EF552EE8-CA87-B143-B02B-B8C02542E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  <p:sp>
        <p:nvSpPr>
          <p:cNvPr id="8" name="TextBox 11">
            <a:extLst>
              <a:ext uri="{FF2B5EF4-FFF2-40B4-BE49-F238E27FC236}">
                <a16:creationId xmlns:a16="http://schemas.microsoft.com/office/drawing/2014/main" id="{52BEE7A6-D658-D245-8B94-2593C6D5EBE6}"/>
              </a:ext>
            </a:extLst>
          </p:cNvPr>
          <p:cNvSpPr txBox="1"/>
          <p:nvPr/>
        </p:nvSpPr>
        <p:spPr>
          <a:xfrm>
            <a:off x="1117907" y="1274555"/>
            <a:ext cx="6844466" cy="3418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>
              <a:lnSpc>
                <a:spcPct val="140000"/>
              </a:lnSpc>
              <a:spcAft>
                <a:spcPts val="1200"/>
              </a:spcAft>
            </a:pPr>
            <a:r>
              <a:rPr lang="pt-BR" sz="1600" dirty="0">
                <a:solidFill>
                  <a:srgbClr val="91A3AD"/>
                </a:solidFill>
                <a:latin typeface="Gotham HTF Book"/>
                <a:cs typeface="Gotham HTF Book"/>
              </a:rPr>
              <a:t>MAIS DO QUE SIMPLESMENTE AVALIAR, QUEREMOS TRAZER UM PROPÓSITO NESSE MOMENTO. </a:t>
            </a:r>
          </a:p>
          <a:p>
            <a:pPr marL="0" algn="ctr">
              <a:lnSpc>
                <a:spcPct val="140000"/>
              </a:lnSpc>
              <a:spcAft>
                <a:spcPts val="1200"/>
              </a:spcAft>
            </a:pPr>
            <a:r>
              <a:rPr lang="pt-BR" sz="1600" dirty="0">
                <a:solidFill>
                  <a:srgbClr val="91A3AD"/>
                </a:solidFill>
                <a:latin typeface="Gotham HTF Book"/>
                <a:cs typeface="Gotham HTF Book"/>
              </a:rPr>
              <a:t>CADA DISCIPLINA, CADA CONTEÚDO, ASSOCIADO A UM BEM MAIOR. </a:t>
            </a:r>
          </a:p>
          <a:p>
            <a:pPr marL="0" algn="ctr">
              <a:lnSpc>
                <a:spcPct val="140000"/>
              </a:lnSpc>
              <a:spcAft>
                <a:spcPts val="1200"/>
              </a:spcAft>
            </a:pPr>
            <a:r>
              <a:rPr lang="pt-BR" sz="1600" dirty="0">
                <a:solidFill>
                  <a:srgbClr val="91A3AD"/>
                </a:solidFill>
                <a:latin typeface="Gotham HTF Book"/>
                <a:cs typeface="Gotham HTF Book"/>
              </a:rPr>
              <a:t>A UMA REFLEXÃO.</a:t>
            </a:r>
          </a:p>
          <a:p>
            <a:pPr marL="0" algn="ctr">
              <a:lnSpc>
                <a:spcPct val="140000"/>
              </a:lnSpc>
              <a:spcAft>
                <a:spcPts val="1200"/>
              </a:spcAft>
            </a:pPr>
            <a:r>
              <a:rPr lang="pt-BR" sz="1600" dirty="0">
                <a:solidFill>
                  <a:srgbClr val="91A3AD"/>
                </a:solidFill>
                <a:latin typeface="Gotham HTF Book"/>
                <a:cs typeface="Gotham HTF Book"/>
              </a:rPr>
              <a:t>TRANSFORMAR A FORMA DE ENSINAR, DE APRENDER E DE APLICAR CONHECIMENTOS.</a:t>
            </a:r>
          </a:p>
          <a:p>
            <a:pPr marL="0" algn="ctr">
              <a:lnSpc>
                <a:spcPct val="140000"/>
              </a:lnSpc>
              <a:spcAft>
                <a:spcPts val="1200"/>
              </a:spcAft>
            </a:pPr>
            <a:r>
              <a:rPr lang="pt-BR" sz="1600" dirty="0">
                <a:solidFill>
                  <a:srgbClr val="ED1C5A"/>
                </a:solidFill>
                <a:latin typeface="Gotham HTF Book"/>
                <a:cs typeface="Gotham HTF Book"/>
              </a:rPr>
              <a:t>REÚNA SEU GRUPO E MÃOS À OBRA</a:t>
            </a:r>
          </a:p>
        </p:txBody>
      </p:sp>
    </p:spTree>
    <p:extLst>
      <p:ext uri="{BB962C8B-B14F-4D97-AF65-F5344CB8AC3E}">
        <p14:creationId xmlns:p14="http://schemas.microsoft.com/office/powerpoint/2010/main" val="3265439966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5F7E262B-6765-D44E-A4AE-469FC12FA27F}"/>
              </a:ext>
            </a:extLst>
          </p:cNvPr>
          <p:cNvGrpSpPr/>
          <p:nvPr/>
        </p:nvGrpSpPr>
        <p:grpSpPr>
          <a:xfrm>
            <a:off x="206087" y="237648"/>
            <a:ext cx="8742460" cy="4697041"/>
            <a:chOff x="206087" y="237647"/>
            <a:chExt cx="8742460" cy="4697041"/>
          </a:xfrm>
        </p:grpSpPr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2BC1A292-2A87-9F40-8C10-1BE74FB74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7" name="Picture 7">
              <a:extLst>
                <a:ext uri="{FF2B5EF4-FFF2-40B4-BE49-F238E27FC236}">
                  <a16:creationId xmlns:a16="http://schemas.microsoft.com/office/drawing/2014/main" id="{EF552EE8-CA87-B143-B02B-B8C02542E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  <p:sp>
        <p:nvSpPr>
          <p:cNvPr id="8" name="TextBox 11">
            <a:extLst>
              <a:ext uri="{FF2B5EF4-FFF2-40B4-BE49-F238E27FC236}">
                <a16:creationId xmlns:a16="http://schemas.microsoft.com/office/drawing/2014/main" id="{52BEE7A6-D658-D245-8B94-2593C6D5EBE6}"/>
              </a:ext>
            </a:extLst>
          </p:cNvPr>
          <p:cNvSpPr txBox="1"/>
          <p:nvPr/>
        </p:nvSpPr>
        <p:spPr>
          <a:xfrm>
            <a:off x="1225442" y="1690538"/>
            <a:ext cx="6844466" cy="1454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>
              <a:lnSpc>
                <a:spcPct val="140000"/>
              </a:lnSpc>
              <a:spcAft>
                <a:spcPts val="1200"/>
              </a:spcAft>
            </a:pPr>
            <a:r>
              <a:rPr lang="pt-BR" sz="1600" dirty="0">
                <a:solidFill>
                  <a:srgbClr val="91A3AD"/>
                </a:solidFill>
                <a:latin typeface="Gotham HTF Book"/>
                <a:cs typeface="Gotham HTF Book"/>
              </a:rPr>
              <a:t>ACREDITAMOS NO </a:t>
            </a:r>
            <a:r>
              <a:rPr lang="pt-BR" sz="1600" dirty="0">
                <a:solidFill>
                  <a:srgbClr val="ED1C5A"/>
                </a:solidFill>
                <a:latin typeface="Gotham HTF Book"/>
                <a:cs typeface="Gotham HTF Book"/>
              </a:rPr>
              <a:t>PODER TRANSFORMADOR </a:t>
            </a:r>
            <a:br>
              <a:rPr lang="pt-BR" sz="1600" dirty="0">
                <a:solidFill>
                  <a:srgbClr val="ED1C5A"/>
                </a:solidFill>
                <a:latin typeface="Gotham HTF Book"/>
                <a:cs typeface="Gotham HTF Book"/>
              </a:rPr>
            </a:br>
            <a:r>
              <a:rPr lang="pt-BR" sz="1600" dirty="0">
                <a:solidFill>
                  <a:srgbClr val="ED1C5A"/>
                </a:solidFill>
                <a:latin typeface="Gotham HTF Book"/>
                <a:cs typeface="Gotham HTF Book"/>
              </a:rPr>
              <a:t>DA TECNOLOGIA</a:t>
            </a:r>
            <a:r>
              <a:rPr lang="pt-BR" sz="1600" dirty="0">
                <a:solidFill>
                  <a:srgbClr val="91A3AD"/>
                </a:solidFill>
                <a:latin typeface="Gotham HTF Book"/>
                <a:cs typeface="Gotham HTF Book"/>
              </a:rPr>
              <a:t>. UM PODER QUE, ALIADO </a:t>
            </a:r>
            <a:br>
              <a:rPr lang="pt-BR" sz="1600" dirty="0">
                <a:solidFill>
                  <a:srgbClr val="91A3AD"/>
                </a:solidFill>
                <a:latin typeface="Gotham HTF Book"/>
                <a:cs typeface="Gotham HTF Book"/>
              </a:rPr>
            </a:br>
            <a:r>
              <a:rPr lang="pt-BR" sz="1600" dirty="0">
                <a:solidFill>
                  <a:srgbClr val="91A3AD"/>
                </a:solidFill>
                <a:latin typeface="Gotham HTF Book"/>
                <a:cs typeface="Gotham HTF Book"/>
              </a:rPr>
              <a:t>À CRIATIVIDADE, INVENTA, MUDA, INQUIETA E </a:t>
            </a:r>
            <a:br>
              <a:rPr lang="pt-BR" sz="1600" dirty="0">
                <a:solidFill>
                  <a:srgbClr val="91A3AD"/>
                </a:solidFill>
                <a:latin typeface="Gotham HTF Book"/>
                <a:cs typeface="Gotham HTF Book"/>
              </a:rPr>
            </a:br>
            <a:r>
              <a:rPr lang="pt-BR" sz="1600" dirty="0">
                <a:solidFill>
                  <a:srgbClr val="ED1C5A"/>
                </a:solidFill>
                <a:latin typeface="Gotham HTF Book"/>
                <a:cs typeface="Gotham HTF Book"/>
              </a:rPr>
              <a:t>BUSCA SOLUÇÕES </a:t>
            </a:r>
            <a:r>
              <a:rPr lang="pt-BR" sz="1600" dirty="0">
                <a:solidFill>
                  <a:srgbClr val="91A3AD"/>
                </a:solidFill>
                <a:latin typeface="Gotham HTF Book"/>
                <a:cs typeface="Gotham HTF Book"/>
              </a:rPr>
              <a:t>NUNCA ANTES PENSADAS.</a:t>
            </a:r>
          </a:p>
        </p:txBody>
      </p:sp>
    </p:spTree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" y="2"/>
            <a:ext cx="9135541" cy="51435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76" y="209004"/>
            <a:ext cx="8691450" cy="4704328"/>
          </a:xfrm>
          <a:prstGeom prst="rect">
            <a:avLst/>
          </a:prstGeom>
        </p:spPr>
      </p:pic>
      <p:pic>
        <p:nvPicPr>
          <p:cNvPr id="16" name="Imagem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568" y="2177862"/>
            <a:ext cx="2910865" cy="78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89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87E52000D43248A94C18BF0B36B1D8" ma:contentTypeVersion="2" ma:contentTypeDescription="Crie um novo documento." ma:contentTypeScope="" ma:versionID="2ad4ef7db2006da4bd812b73442d9f01">
  <xsd:schema xmlns:xsd="http://www.w3.org/2001/XMLSchema" xmlns:xs="http://www.w3.org/2001/XMLSchema" xmlns:p="http://schemas.microsoft.com/office/2006/metadata/properties" xmlns:ns2="273e3910-5cc7-4656-b525-a71580039df0" targetNamespace="http://schemas.microsoft.com/office/2006/metadata/properties" ma:root="true" ma:fieldsID="c09b01df3fcea61820a2d1121af1cbff" ns2:_="">
    <xsd:import namespace="273e3910-5cc7-4656-b525-a71580039d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3e3910-5cc7-4656-b525-a71580039d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E51FFF-E665-4846-9940-401AE546C3A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3C4D081-D685-4D53-9708-21D6B38B3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A7B501-C093-4A68-8493-026CB1F2CD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3e3910-5cc7-4656-b525-a71580039d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3728</TotalTime>
  <Words>1123</Words>
  <Application>Microsoft Office PowerPoint</Application>
  <PresentationFormat>Apresentação na tela (16:9)</PresentationFormat>
  <Paragraphs>91</Paragraphs>
  <Slides>27</Slides>
  <Notes>3</Notes>
  <HiddenSlides>0</HiddenSlides>
  <MMClips>3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7" baseType="lpstr">
      <vt:lpstr>Arial</vt:lpstr>
      <vt:lpstr>Calibri</vt:lpstr>
      <vt:lpstr>Gotham HTF Bold</vt:lpstr>
      <vt:lpstr>Gotham HTF Book</vt:lpstr>
      <vt:lpstr>Gotham HTF Light</vt:lpstr>
      <vt:lpstr>Gotham HTF Medium</vt:lpstr>
      <vt:lpstr>Helvetica Light</vt:lpstr>
      <vt:lpstr>Helvetica Neue</vt:lpstr>
      <vt:lpstr>Wingdings</vt:lpstr>
      <vt:lpstr>White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DESAFIOS</vt:lpstr>
      <vt:lpstr>Apresentação do PowerPoint</vt:lpstr>
      <vt:lpstr>Apresentação do PowerPoint</vt:lpstr>
      <vt:lpstr>CASE NORTEADOR DAS DISCIPLINAS</vt:lpstr>
      <vt:lpstr>Apresentação do PowerPoint</vt:lpstr>
      <vt:lpstr>INSPIRAÇÕES....</vt:lpstr>
      <vt:lpstr>MOTIVAÇÃO</vt:lpstr>
      <vt:lpstr>CALENDÁRIO</vt:lpstr>
      <vt:lpstr>Apresentação do PowerPoint</vt:lpstr>
      <vt:lpstr>OS ENTREGÁVEIS</vt:lpstr>
      <vt:lpstr>   </vt:lpstr>
      <vt:lpstr>DISCIPLINA 01</vt:lpstr>
      <vt:lpstr>DISCIPLINA 02</vt:lpstr>
      <vt:lpstr>DISCIPLINA 03</vt:lpstr>
      <vt:lpstr>DISCIPLINA 04</vt:lpstr>
      <vt:lpstr>DISCIPLINA 05</vt:lpstr>
      <vt:lpstr>DISCIPLINA 06</vt:lpstr>
      <vt:lpstr>DISCIPLINA 07</vt:lpstr>
      <vt:lpstr>DISCIPLINA 08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Sandro Ferraz</dc:creator>
  <cp:lastModifiedBy>Sandro Ferraz</cp:lastModifiedBy>
  <cp:revision>359</cp:revision>
  <dcterms:modified xsi:type="dcterms:W3CDTF">2023-11-12T20:56:34Z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0x010100EC87E52000D43248A94C18BF0B36B1D8</vt:lpwstr>
  </property>
</Properties>
</file>