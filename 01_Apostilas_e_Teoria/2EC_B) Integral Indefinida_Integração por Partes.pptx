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4"/>
  </p:sldMasterIdLst>
  <p:notesMasterIdLst>
    <p:notesMasterId r:id="rId30"/>
  </p:notesMasterIdLst>
  <p:sldIdLst>
    <p:sldId id="902" r:id="rId5"/>
    <p:sldId id="991" r:id="rId6"/>
    <p:sldId id="992" r:id="rId7"/>
    <p:sldId id="1032" r:id="rId8"/>
    <p:sldId id="1033" r:id="rId9"/>
    <p:sldId id="993" r:id="rId10"/>
    <p:sldId id="994" r:id="rId11"/>
    <p:sldId id="953" r:id="rId12"/>
    <p:sldId id="1023" r:id="rId13"/>
    <p:sldId id="952" r:id="rId14"/>
    <p:sldId id="1037" r:id="rId15"/>
    <p:sldId id="1018" r:id="rId16"/>
    <p:sldId id="1028" r:id="rId17"/>
    <p:sldId id="1029" r:id="rId18"/>
    <p:sldId id="1030" r:id="rId19"/>
    <p:sldId id="1031" r:id="rId20"/>
    <p:sldId id="1035" r:id="rId21"/>
    <p:sldId id="1019" r:id="rId22"/>
    <p:sldId id="951" r:id="rId23"/>
    <p:sldId id="973" r:id="rId24"/>
    <p:sldId id="974" r:id="rId25"/>
    <p:sldId id="950" r:id="rId26"/>
    <p:sldId id="1027" r:id="rId27"/>
    <p:sldId id="1026" r:id="rId28"/>
    <p:sldId id="990" r:id="rId29"/>
  </p:sldIdLst>
  <p:sldSz cx="12192000" cy="6858000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mael de Araujo Silva" initials="IdAS" lastIdx="1" clrIdx="0">
    <p:extLst>
      <p:ext uri="{19B8F6BF-5375-455C-9EA6-DF929625EA0E}">
        <p15:presenceInfo xmlns:p15="http://schemas.microsoft.com/office/powerpoint/2012/main" userId="7f450d086c65704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FFCC"/>
    <a:srgbClr val="9900CC"/>
    <a:srgbClr val="0000FF"/>
    <a:srgbClr val="FFFF00"/>
    <a:srgbClr val="33CCCC"/>
    <a:srgbClr val="00FF99"/>
    <a:srgbClr val="FF9900"/>
    <a:srgbClr val="C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86443" autoAdjust="0"/>
  </p:normalViewPr>
  <p:slideViewPr>
    <p:cSldViewPr>
      <p:cViewPr varScale="1">
        <p:scale>
          <a:sx n="78" d="100"/>
          <a:sy n="78" d="100"/>
        </p:scale>
        <p:origin x="74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BA73DA2-9B64-4FED-9C82-BFBEF80F78F3}" type="datetimeFigureOut">
              <a:rPr lang="pt-BR" smtClean="0"/>
              <a:pPr/>
              <a:t>26/02/2023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41CFA72-B01C-402E-8568-ECC646405A4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446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61" name="Shape 2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6097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486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10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10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868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289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803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337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864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832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1613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6104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740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694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207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51790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308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75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457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0458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6255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2305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4644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7379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813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8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8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3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9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4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5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9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1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1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" y="264"/>
            <a:ext cx="12187091" cy="685773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3E2EBD6-3C69-4A23-8C76-F7A3F4A51F3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5894972-3E97-435F-B25A-702790A0A669}"/>
              </a:ext>
            </a:extLst>
          </p:cNvPr>
          <p:cNvSpPr txBox="1"/>
          <p:nvPr/>
        </p:nvSpPr>
        <p:spPr>
          <a:xfrm>
            <a:off x="3409556" y="836712"/>
            <a:ext cx="50128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latin typeface="Arial Nova" panose="020B0504020202020204" pitchFamily="34" charset="0"/>
              </a:rPr>
              <a:t>INTEGRAL  INDEFINIDA</a:t>
            </a:r>
          </a:p>
          <a:p>
            <a:pPr algn="ctr"/>
            <a:r>
              <a:rPr lang="pt-BR" sz="2800" dirty="0">
                <a:solidFill>
                  <a:srgbClr val="00B0F0"/>
                </a:solidFill>
                <a:latin typeface="Arial Nova" panose="020B0504020202020204" pitchFamily="34" charset="0"/>
              </a:rPr>
              <a:t>MÉTODOS DE INTEGRAÇÃO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0E3607-0DCE-49FB-BF5C-8F6E70CA5751}"/>
              </a:ext>
            </a:extLst>
          </p:cNvPr>
          <p:cNvSpPr txBox="1"/>
          <p:nvPr/>
        </p:nvSpPr>
        <p:spPr>
          <a:xfrm>
            <a:off x="2423592" y="2204864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00B0F0"/>
                </a:solidFill>
                <a:latin typeface="Arial Nova" panose="020B0504020202020204" pitchFamily="34" charset="0"/>
              </a:rPr>
              <a:t>B) </a:t>
            </a:r>
            <a:r>
              <a:rPr lang="pt-BR" sz="2800" dirty="0">
                <a:solidFill>
                  <a:srgbClr val="FF0066"/>
                </a:solidFill>
                <a:latin typeface="Arial Nova" panose="020B0504020202020204" pitchFamily="34" charset="0"/>
              </a:rPr>
              <a:t>INTEGRAÇÃO POR PARTES</a:t>
            </a:r>
            <a:endParaRPr lang="pt-BR" sz="2800" b="1" dirty="0">
              <a:solidFill>
                <a:srgbClr val="FF0066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FC2B46E-1CF9-4857-9CC7-4982CEAD711C}"/>
              </a:ext>
            </a:extLst>
          </p:cNvPr>
          <p:cNvSpPr txBox="1"/>
          <p:nvPr/>
        </p:nvSpPr>
        <p:spPr>
          <a:xfrm>
            <a:off x="9423742" y="5738650"/>
            <a:ext cx="2463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FF00"/>
                </a:solidFill>
              </a:rPr>
              <a:t>profismael@fiap.com.br</a:t>
            </a:r>
          </a:p>
        </p:txBody>
      </p:sp>
    </p:spTree>
    <p:extLst>
      <p:ext uri="{BB962C8B-B14F-4D97-AF65-F5344CB8AC3E}">
        <p14:creationId xmlns:p14="http://schemas.microsoft.com/office/powerpoint/2010/main" val="24894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804672" y="338328"/>
            <a:ext cx="3877056" cy="2249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pt-BR" sz="5000" b="1" dirty="0">
                <a:solidFill>
                  <a:srgbClr val="FF0000"/>
                </a:solidFill>
              </a:rPr>
              <a:t>		RESUMO TEÓRICO</a:t>
            </a:r>
          </a:p>
        </p:txBody>
      </p:sp>
      <p:pic>
        <p:nvPicPr>
          <p:cNvPr id="6" name="Picture 4" descr="Fogos de artifício no céu&#10;&#10;Descrição gerada automaticamente com confiança mé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207785" y="493028"/>
            <a:ext cx="2611316" cy="2284901"/>
          </a:xfrm>
          <a:prstGeom prst="rect">
            <a:avLst/>
          </a:prstGeom>
        </p:spPr>
      </p:pic>
      <p:pic>
        <p:nvPicPr>
          <p:cNvPr id="10" name="Picture 5" descr="Fundo preto com letras brancas&#10;&#10;Descrição gerada automaticamente com confiança méd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351" y="3155743"/>
            <a:ext cx="4768542" cy="3147238"/>
          </a:xfrm>
          <a:prstGeom prst="rect">
            <a:avLst/>
          </a:prstGeom>
        </p:spPr>
      </p:pic>
      <p:pic>
        <p:nvPicPr>
          <p:cNvPr id="11" name="Imagem 10" descr="Ícone&#10;&#10;Descrição gerada automaticamente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RESUMO TEÓRICO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9B1B0F-FA96-4630-9970-90AFCD36B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432" y="764704"/>
            <a:ext cx="7353230" cy="444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6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RESUMO TEÓRICO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4092B18-8196-4E87-BAFF-DFCCBAE58ECC}"/>
              </a:ext>
            </a:extLst>
          </p:cNvPr>
          <p:cNvGrpSpPr/>
          <p:nvPr/>
        </p:nvGrpSpPr>
        <p:grpSpPr>
          <a:xfrm>
            <a:off x="1103293" y="456291"/>
            <a:ext cx="7223379" cy="6175570"/>
            <a:chOff x="1103293" y="456291"/>
            <a:chExt cx="7223379" cy="6175570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92C04574-BE18-4307-A923-81DE35ED7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1000" contrast="74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76877" y="456291"/>
              <a:ext cx="7132671" cy="4196846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6A3992F-3AD5-46E2-94E8-2FC0FC644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03293" y="4877328"/>
              <a:ext cx="7223379" cy="17545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90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RESUMO TEÓRICO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DD34FD6-3514-4F4D-A1F3-D8DEC1E6C5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448" y="692696"/>
            <a:ext cx="699135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RESUMO TEÓRICO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0F5A293-6E67-481D-87F4-0C7439020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871" y="555481"/>
            <a:ext cx="6666329" cy="550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9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RESUMO TEÓRICO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01F3412-D916-4AB8-BB0D-4537D7FB62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440" y="620688"/>
            <a:ext cx="669607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1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BC692E18-E50E-41AB-8185-D71113A2C4E3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FÓRMULAS DE DERIVAÇÃO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8FEB4D-B209-48BA-91F3-36599AC44A05}"/>
              </a:ext>
            </a:extLst>
          </p:cNvPr>
          <p:cNvSpPr txBox="1"/>
          <p:nvPr/>
        </p:nvSpPr>
        <p:spPr>
          <a:xfrm>
            <a:off x="1271464" y="733506"/>
            <a:ext cx="873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Sejam   </a:t>
            </a:r>
            <a:r>
              <a:rPr lang="pt-BR" sz="2000" b="1" dirty="0">
                <a:latin typeface="Lucida Calligraphy" panose="03010101010101010101" pitchFamily="66" charset="0"/>
              </a:rPr>
              <a:t>u</a:t>
            </a:r>
            <a:r>
              <a:rPr lang="pt-BR" sz="2000" dirty="0"/>
              <a:t>    e</a:t>
            </a:r>
            <a:r>
              <a:rPr lang="pt-BR" sz="2000" dirty="0">
                <a:latin typeface="Lucida Calligraphy" panose="03010101010101010101" pitchFamily="66" charset="0"/>
              </a:rPr>
              <a:t>  </a:t>
            </a:r>
            <a:r>
              <a:rPr lang="pt-BR" sz="2000" b="1" dirty="0">
                <a:latin typeface="Lucida Calligraphy" panose="03010101010101010101" pitchFamily="66" charset="0"/>
              </a:rPr>
              <a:t>v  </a:t>
            </a:r>
            <a:r>
              <a:rPr lang="pt-BR" sz="2000" dirty="0"/>
              <a:t>funções deriváveis na variável </a:t>
            </a:r>
            <a:r>
              <a:rPr lang="pt-BR" sz="2000" b="1" dirty="0">
                <a:latin typeface="Lucida Calligraphy" panose="03010101010101010101" pitchFamily="66" charset="0"/>
              </a:rPr>
              <a:t>x</a:t>
            </a:r>
            <a:r>
              <a:rPr lang="pt-BR" sz="2000" b="1" dirty="0"/>
              <a:t>,   “</a:t>
            </a:r>
            <a:r>
              <a:rPr lang="pt-BR" sz="2000" b="1" dirty="0">
                <a:latin typeface="Lucida Calligraphy" panose="03010101010101010101" pitchFamily="66" charset="0"/>
              </a:rPr>
              <a:t>a</a:t>
            </a:r>
            <a:r>
              <a:rPr lang="pt-BR" sz="2000" b="1" dirty="0"/>
              <a:t>”</a:t>
            </a:r>
            <a:r>
              <a:rPr lang="pt-BR" sz="2000" dirty="0"/>
              <a:t>  e   “</a:t>
            </a:r>
            <a:r>
              <a:rPr lang="pt-BR" sz="2000" b="1" dirty="0">
                <a:latin typeface="Lucida Calligraphy" panose="03010101010101010101" pitchFamily="66" charset="0"/>
              </a:rPr>
              <a:t>n</a:t>
            </a:r>
            <a:r>
              <a:rPr lang="pt-BR" sz="2000" b="1" dirty="0"/>
              <a:t>” </a:t>
            </a:r>
            <a:r>
              <a:rPr lang="pt-BR" sz="2000" dirty="0"/>
              <a:t> são constantes: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98CC597-00E4-43F8-B078-D86E4BEC17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464" y="1200121"/>
            <a:ext cx="6865212" cy="3573635"/>
          </a:xfrm>
          <a:prstGeom prst="rect">
            <a:avLst/>
          </a:prstGeom>
        </p:spPr>
      </p:pic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025666DB-8320-42DC-B16A-56369773BE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978594"/>
              </p:ext>
            </p:extLst>
          </p:nvPr>
        </p:nvGraphicFramePr>
        <p:xfrm>
          <a:off x="9291187" y="4005069"/>
          <a:ext cx="2535238" cy="197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1320800" imgH="1028700" progId="Equation.3">
                  <p:embed/>
                </p:oleObj>
              </mc:Choice>
              <mc:Fallback>
                <p:oleObj name="Equação" r:id="rId8" imgW="1320800" imgH="1028700" progId="Equation.3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FB5828A9-2E12-4813-95D0-78062570A0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1187" y="4005069"/>
                        <a:ext cx="2535238" cy="197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187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BC692E18-E50E-41AB-8185-D71113A2C4E3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FÓRMULAS DE DERIVAÇÃO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8FEB4D-B209-48BA-91F3-36599AC44A05}"/>
              </a:ext>
            </a:extLst>
          </p:cNvPr>
          <p:cNvSpPr txBox="1"/>
          <p:nvPr/>
        </p:nvSpPr>
        <p:spPr>
          <a:xfrm>
            <a:off x="1271464" y="733506"/>
            <a:ext cx="873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Sejam   </a:t>
            </a:r>
            <a:r>
              <a:rPr lang="pt-BR" sz="2000" b="1" dirty="0">
                <a:latin typeface="Lucida Calligraphy" panose="03010101010101010101" pitchFamily="66" charset="0"/>
              </a:rPr>
              <a:t>u</a:t>
            </a:r>
            <a:r>
              <a:rPr lang="pt-BR" sz="2000" dirty="0"/>
              <a:t>    e</a:t>
            </a:r>
            <a:r>
              <a:rPr lang="pt-BR" sz="2000" dirty="0">
                <a:latin typeface="Lucida Calligraphy" panose="03010101010101010101" pitchFamily="66" charset="0"/>
              </a:rPr>
              <a:t>  </a:t>
            </a:r>
            <a:r>
              <a:rPr lang="pt-BR" sz="2000" b="1" dirty="0">
                <a:latin typeface="Lucida Calligraphy" panose="03010101010101010101" pitchFamily="66" charset="0"/>
              </a:rPr>
              <a:t>v  </a:t>
            </a:r>
            <a:r>
              <a:rPr lang="pt-BR" sz="2000" dirty="0"/>
              <a:t>funções deriváveis na variável </a:t>
            </a:r>
            <a:r>
              <a:rPr lang="pt-BR" sz="2000" b="1" dirty="0">
                <a:latin typeface="Lucida Calligraphy" panose="03010101010101010101" pitchFamily="66" charset="0"/>
              </a:rPr>
              <a:t>x</a:t>
            </a:r>
            <a:r>
              <a:rPr lang="pt-BR" sz="2000" b="1" dirty="0"/>
              <a:t>,   “</a:t>
            </a:r>
            <a:r>
              <a:rPr lang="pt-BR" sz="2000" b="1" dirty="0">
                <a:latin typeface="Lucida Calligraphy" panose="03010101010101010101" pitchFamily="66" charset="0"/>
              </a:rPr>
              <a:t>a</a:t>
            </a:r>
            <a:r>
              <a:rPr lang="pt-BR" sz="2000" b="1" dirty="0"/>
              <a:t>”</a:t>
            </a:r>
            <a:r>
              <a:rPr lang="pt-BR" sz="2000" dirty="0"/>
              <a:t>  e   “</a:t>
            </a:r>
            <a:r>
              <a:rPr lang="pt-BR" sz="2000" b="1" dirty="0">
                <a:latin typeface="Lucida Calligraphy" panose="03010101010101010101" pitchFamily="66" charset="0"/>
              </a:rPr>
              <a:t>n</a:t>
            </a:r>
            <a:r>
              <a:rPr lang="pt-BR" sz="2000" b="1" dirty="0"/>
              <a:t>” </a:t>
            </a:r>
            <a:r>
              <a:rPr lang="pt-BR" sz="2000" dirty="0"/>
              <a:t> são constantes: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40C14E4-849C-4453-ACC0-EBC1B2A86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5056" y="2971475"/>
            <a:ext cx="4032448" cy="315486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7988A30-8CFD-46EB-941C-877AA1A889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1464" y="1245468"/>
            <a:ext cx="4991884" cy="197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9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580E893-DA9C-4FDD-A9EE-54E61DB8DDA7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FÓRMULAS DE INTEGRAÇÃO</a:t>
            </a:r>
          </a:p>
        </p:txBody>
      </p:sp>
      <p:graphicFrame>
        <p:nvGraphicFramePr>
          <p:cNvPr id="7" name="Espaço Reservado para Conteúdo 3">
            <a:extLst>
              <a:ext uri="{FF2B5EF4-FFF2-40B4-BE49-F238E27FC236}">
                <a16:creationId xmlns:a16="http://schemas.microsoft.com/office/drawing/2014/main" id="{3D31C18C-753E-4055-A5F0-F2E83FFB1D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7063"/>
              </p:ext>
            </p:extLst>
          </p:nvPr>
        </p:nvGraphicFramePr>
        <p:xfrm>
          <a:off x="1343025" y="493713"/>
          <a:ext cx="8824913" cy="608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7924800" imgH="5461000" progId="Equation.3">
                  <p:embed/>
                </p:oleObj>
              </mc:Choice>
              <mc:Fallback>
                <p:oleObj name="Equação" r:id="rId6" imgW="7924800" imgH="5461000" progId="Equation.3">
                  <p:embed/>
                  <p:pic>
                    <p:nvPicPr>
                      <p:cNvPr id="7" name="Espaço Reservado para Conteúdo 3">
                        <a:extLst>
                          <a:ext uri="{FF2B5EF4-FFF2-40B4-BE49-F238E27FC236}">
                            <a16:creationId xmlns:a16="http://schemas.microsoft.com/office/drawing/2014/main" id="{DABA09A4-FC3C-4DD1-8948-703E60F576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493713"/>
                        <a:ext cx="8824913" cy="60817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938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580E893-DA9C-4FDD-A9EE-54E61DB8DDA7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FÓRMULAS DE INTEGRAÇÃO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E59480F-1E7E-443B-BC6B-00BBC8CA4D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439" y="836712"/>
            <a:ext cx="5642039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0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911424" y="1635478"/>
            <a:ext cx="3199487" cy="11664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pt-BR" sz="5000" b="1">
                <a:solidFill>
                  <a:srgbClr val="FF0000"/>
                </a:solidFill>
              </a:rPr>
              <a:t>EXEMPLOS</a:t>
            </a:r>
            <a:endParaRPr lang="en-US" altLang="pt-BR" sz="5000" b="1" dirty="0">
              <a:solidFill>
                <a:srgbClr val="FF0000"/>
              </a:solidFill>
            </a:endParaRPr>
          </a:p>
        </p:txBody>
      </p:sp>
      <p:pic>
        <p:nvPicPr>
          <p:cNvPr id="6" name="Picture 4" descr="Fogos de artifício no céu&#10;&#10;Descrição gerada automaticamente com confiança mé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207785" y="493028"/>
            <a:ext cx="2611316" cy="2284901"/>
          </a:xfrm>
          <a:prstGeom prst="rect">
            <a:avLst/>
          </a:prstGeom>
        </p:spPr>
      </p:pic>
      <p:pic>
        <p:nvPicPr>
          <p:cNvPr id="10" name="Picture 5" descr="Fundo preto com letras brancas&#10;&#10;Descrição gerada automaticamente com confiança méd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351" y="3155743"/>
            <a:ext cx="4768542" cy="3147238"/>
          </a:xfrm>
          <a:prstGeom prst="rect">
            <a:avLst/>
          </a:prstGeom>
        </p:spPr>
      </p:pic>
      <p:pic>
        <p:nvPicPr>
          <p:cNvPr id="11" name="Imagem 10" descr="Ícone&#10;&#10;Descrição gerada automaticamente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95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72" y="4077072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1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44545D-E80E-4AB7-A12D-192D7DC26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440" y="514350"/>
            <a:ext cx="8271795" cy="521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5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2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CBA9AB4-4CE1-49FE-9230-C5B6325765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448" y="620688"/>
            <a:ext cx="7209214" cy="508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3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3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FD2A03C-84CA-4B39-A401-90ADBACDF1A5}"/>
              </a:ext>
            </a:extLst>
          </p:cNvPr>
          <p:cNvGrpSpPr/>
          <p:nvPr/>
        </p:nvGrpSpPr>
        <p:grpSpPr>
          <a:xfrm>
            <a:off x="1127448" y="620688"/>
            <a:ext cx="7248525" cy="4733925"/>
            <a:chOff x="1127448" y="620688"/>
            <a:chExt cx="7248525" cy="4733925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1113BE43-5CD5-48D8-9FFD-E3C67E40E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7448" y="620688"/>
              <a:ext cx="7248525" cy="473392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aixaDeTexto 3">
                  <a:extLst>
                    <a:ext uri="{FF2B5EF4-FFF2-40B4-BE49-F238E27FC236}">
                      <a16:creationId xmlns:a16="http://schemas.microsoft.com/office/drawing/2014/main" id="{B4503395-32B7-43B6-BA41-7534765AF59E}"/>
                    </a:ext>
                  </a:extLst>
                </p:cNvPr>
                <p:cNvSpPr txBox="1"/>
                <p:nvPr/>
              </p:nvSpPr>
              <p:spPr>
                <a:xfrm>
                  <a:off x="3999356" y="4966807"/>
                  <a:ext cx="186672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pt-B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𝒍𝒏𝒙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pt-BR" b="1" dirty="0"/>
                </a:p>
              </p:txBody>
            </p:sp>
          </mc:Choice>
          <mc:Fallback xmlns="">
            <p:sp>
              <p:nvSpPr>
                <p:cNvPr id="4" name="CaixaDeTexto 3">
                  <a:extLst>
                    <a:ext uri="{FF2B5EF4-FFF2-40B4-BE49-F238E27FC236}">
                      <a16:creationId xmlns:a16="http://schemas.microsoft.com/office/drawing/2014/main" id="{B4503395-32B7-43B6-BA41-7534765AF5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9356" y="4966807"/>
                  <a:ext cx="186672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654" t="-2222" r="-2941" b="-888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803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4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E8FA56-8927-457D-AA77-AB9C001F2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464" y="620688"/>
            <a:ext cx="7332626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0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4   -   continuação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3ABE503-2366-4BD3-AEFC-370999B55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456" y="548680"/>
            <a:ext cx="5544616" cy="555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911424" y="1635478"/>
            <a:ext cx="3744416" cy="11664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pt-BR" sz="5000" b="1" dirty="0">
                <a:solidFill>
                  <a:srgbClr val="FF0000"/>
                </a:solidFill>
              </a:rPr>
              <a:t>EXERCÍCIOS</a:t>
            </a:r>
          </a:p>
        </p:txBody>
      </p:sp>
      <p:pic>
        <p:nvPicPr>
          <p:cNvPr id="6" name="Picture 4" descr="Fogos de artifício no céu&#10;&#10;Descrição gerada automaticamente com confiança mé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207785" y="493028"/>
            <a:ext cx="2611316" cy="2284901"/>
          </a:xfrm>
          <a:prstGeom prst="rect">
            <a:avLst/>
          </a:prstGeom>
        </p:spPr>
      </p:pic>
      <p:pic>
        <p:nvPicPr>
          <p:cNvPr id="10" name="Picture 5" descr="Fundo preto com letras brancas&#10;&#10;Descrição gerada automaticamente com confiança méd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351" y="3155743"/>
            <a:ext cx="4768542" cy="3147238"/>
          </a:xfrm>
          <a:prstGeom prst="rect">
            <a:avLst/>
          </a:prstGeom>
        </p:spPr>
      </p:pic>
      <p:pic>
        <p:nvPicPr>
          <p:cNvPr id="11" name="Imagem 10" descr="Ícone&#10;&#10;Descrição gerada automaticamente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41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EXERCÍCIOS     -    </a:t>
            </a:r>
            <a:r>
              <a:rPr lang="pt-BR" altLang="pt-BR" sz="18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   A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9CF162-2BC3-43DF-A73E-2AF1312B83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024" y="620688"/>
            <a:ext cx="5976664" cy="495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25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EXERCÍCIOS     -    </a:t>
            </a:r>
            <a:r>
              <a:rPr lang="pt-BR" altLang="pt-BR" sz="18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   B </a:t>
            </a:r>
            <a:endParaRPr lang="pt-BR" altLang="pt-BR" sz="1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D447F16-DC7C-4CF7-B7A0-A38C514BC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448" y="678443"/>
            <a:ext cx="461010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6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 EXERCÍCIOS     -    </a:t>
            </a:r>
            <a:r>
              <a:rPr lang="pt-BR" altLang="pt-BR" sz="18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   C </a:t>
            </a:r>
            <a:endParaRPr lang="pt-BR" altLang="pt-BR" sz="1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7692D4D-F65A-46B8-A80B-AA5B95A717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464" y="764704"/>
            <a:ext cx="341947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0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012B03E6-D7F4-4472-AC61-C418EC8CE67C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RESPOSTAS DOS EXERCÍCIOS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2A49EA8-BB4E-4443-9CD2-C445CBC85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464" y="764704"/>
            <a:ext cx="762952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87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012B03E6-D7F4-4472-AC61-C418EC8CE67C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RESPOSTAS DOS EXERCÍCIOS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C0707C-91A9-4F24-8439-40A2611F5B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464" y="765172"/>
            <a:ext cx="346710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07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012B03E6-D7F4-4472-AC61-C418EC8CE67C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RESPOSTAS DOS EXERCÍCIOS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D6F8FA3-98D9-4916-8C1C-BF399D065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464" y="620688"/>
            <a:ext cx="27908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6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FF00F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BIBLIOGRAFIA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338F0F-B80D-44E5-9031-373E22B8E2DD}"/>
              </a:ext>
            </a:extLst>
          </p:cNvPr>
          <p:cNvSpPr txBox="1"/>
          <p:nvPr/>
        </p:nvSpPr>
        <p:spPr>
          <a:xfrm>
            <a:off x="1175120" y="757910"/>
            <a:ext cx="78488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pt-BR" altLang="pt-BR" sz="1800" b="1" dirty="0">
                <a:solidFill>
                  <a:srgbClr val="FF0066"/>
                </a:solidFill>
                <a:latin typeface="Calibri" panose="020F0502020204030204" pitchFamily="34" charset="0"/>
              </a:rPr>
              <a:t>BIBLIOTECA VIRTUAL/ FIAP</a:t>
            </a:r>
            <a:endParaRPr lang="pt-BR" altLang="pt-BR" sz="1800" b="1" dirty="0">
              <a:latin typeface="Calibri" panose="020F0502020204030204" pitchFamily="34" charset="0"/>
            </a:endParaRP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endParaRPr lang="pt-BR" altLang="pt-BR" sz="1800" dirty="0">
              <a:latin typeface="Calibri" panose="020F0502020204030204" pitchFamily="34" charset="0"/>
            </a:endParaRP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pt-BR" altLang="pt-BR" sz="1800" dirty="0">
                <a:latin typeface="Calibri" panose="020F0502020204030204" pitchFamily="34" charset="0"/>
              </a:rPr>
              <a:t>THOMAS, George B.</a:t>
            </a:r>
            <a:r>
              <a:rPr lang="pt-BR" altLang="pt-BR" sz="1800" b="1" dirty="0">
                <a:latin typeface="Calibri" panose="020F0502020204030204" pitchFamily="34" charset="0"/>
              </a:rPr>
              <a:t> Cálculo</a:t>
            </a:r>
            <a:r>
              <a:rPr lang="pt-BR" altLang="pt-BR" sz="1800" dirty="0">
                <a:latin typeface="Calibri" panose="020F0502020204030204" pitchFamily="34" charset="0"/>
              </a:rPr>
              <a:t>. Editora Pearson</a:t>
            </a: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endParaRPr lang="pt-BR" altLang="pt-BR" sz="1800" dirty="0">
              <a:latin typeface="Calibri" panose="020F0502020204030204" pitchFamily="34" charset="0"/>
            </a:endParaRP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pt-BR" altLang="pt-BR" sz="1800" dirty="0">
                <a:latin typeface="Calibri" panose="020F0502020204030204" pitchFamily="34" charset="0"/>
              </a:rPr>
              <a:t>FLEMMING, Diva M. </a:t>
            </a:r>
            <a:r>
              <a:rPr lang="pt-BR" altLang="pt-BR" sz="1800" b="1" dirty="0">
                <a:latin typeface="Calibri" panose="020F0502020204030204" pitchFamily="34" charset="0"/>
              </a:rPr>
              <a:t>Cálculo A/ Cálculo B</a:t>
            </a:r>
            <a:r>
              <a:rPr lang="pt-BR" altLang="pt-BR" sz="1800" dirty="0">
                <a:latin typeface="Calibri" panose="020F0502020204030204" pitchFamily="34" charset="0"/>
              </a:rPr>
              <a:t>. Editora Pearson</a:t>
            </a: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endParaRPr lang="pt-BR" altLang="pt-BR" sz="1800" dirty="0">
              <a:latin typeface="Calibri" panose="020F0502020204030204" pitchFamily="34" charset="0"/>
            </a:endParaRP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pt-BR" altLang="pt-BR" sz="1800" dirty="0">
                <a:latin typeface="Calibri" panose="020F0502020204030204" pitchFamily="34" charset="0"/>
              </a:rPr>
              <a:t>RODRIGUES, André C.D. </a:t>
            </a:r>
            <a:r>
              <a:rPr lang="pt-BR" altLang="pt-BR" sz="1800" b="1" dirty="0">
                <a:latin typeface="Calibri" panose="020F0502020204030204" pitchFamily="34" charset="0"/>
              </a:rPr>
              <a:t>Cálculo </a:t>
            </a:r>
            <a:r>
              <a:rPr lang="pt-BR" altLang="pt-BR" sz="1800" b="1" dirty="0">
                <a:solidFill>
                  <a:schemeClr val="bg1"/>
                </a:solidFill>
                <a:latin typeface="Calibri" panose="020F0502020204030204" pitchFamily="34" charset="0"/>
              </a:rPr>
              <a:t>Integral e Diferencial</a:t>
            </a:r>
            <a:r>
              <a:rPr lang="pt-BR" altLang="pt-BR" sz="1800" dirty="0">
                <a:solidFill>
                  <a:schemeClr val="bg1"/>
                </a:solidFill>
                <a:latin typeface="Calibri" panose="020F0502020204030204" pitchFamily="34" charset="0"/>
              </a:rPr>
              <a:t>. Editora Intersaberes</a:t>
            </a:r>
          </a:p>
        </p:txBody>
      </p:sp>
    </p:spTree>
    <p:extLst>
      <p:ext uri="{BB962C8B-B14F-4D97-AF65-F5344CB8AC3E}">
        <p14:creationId xmlns:p14="http://schemas.microsoft.com/office/powerpoint/2010/main" val="220636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87E52000D43248A94C18BF0B36B1D8" ma:contentTypeVersion="2" ma:contentTypeDescription="Crie um novo documento." ma:contentTypeScope="" ma:versionID="2ad4ef7db2006da4bd812b73442d9f01">
  <xsd:schema xmlns:xsd="http://www.w3.org/2001/XMLSchema" xmlns:xs="http://www.w3.org/2001/XMLSchema" xmlns:p="http://schemas.microsoft.com/office/2006/metadata/properties" xmlns:ns2="273e3910-5cc7-4656-b525-a71580039df0" targetNamespace="http://schemas.microsoft.com/office/2006/metadata/properties" ma:root="true" ma:fieldsID="c09b01df3fcea61820a2d1121af1cbff" ns2:_="">
    <xsd:import namespace="273e3910-5cc7-4656-b525-a71580039d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3e3910-5cc7-4656-b525-a71580039d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1CC0CC5-D507-4D30-B110-F0B8ADA821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F25758-0792-47F7-B0D9-B0B3567B01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3e3910-5cc7-4656-b525-a71580039d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6F4D8A-3282-48E4-AFF9-190F1C45920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9212</TotalTime>
  <Words>231</Words>
  <Application>Microsoft Office PowerPoint</Application>
  <PresentationFormat>Widescreen</PresentationFormat>
  <Paragraphs>62</Paragraphs>
  <Slides>25</Slides>
  <Notes>25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3" baseType="lpstr">
      <vt:lpstr>Arial</vt:lpstr>
      <vt:lpstr>Arial Nova</vt:lpstr>
      <vt:lpstr>Calibri</vt:lpstr>
      <vt:lpstr>Cambria Math</vt:lpstr>
      <vt:lpstr>Lucida Calligraphy</vt:lpstr>
      <vt:lpstr>Tahoma</vt:lpstr>
      <vt:lpstr>Office Theme</vt:lpstr>
      <vt:lpstr>Equação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Marcelo Nakagawa</dc:creator>
  <cp:lastModifiedBy>Ismael de Araujo Silva</cp:lastModifiedBy>
  <cp:revision>755</cp:revision>
  <cp:lastPrinted>2015-09-12T11:53:34Z</cp:lastPrinted>
  <dcterms:created xsi:type="dcterms:W3CDTF">2014-08-08T14:56:44Z</dcterms:created>
  <dcterms:modified xsi:type="dcterms:W3CDTF">2023-02-26T19:56:22Z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0x010100EC87E52000D43248A94C18BF0B36B1D8</vt:lpwstr>
  </property>
</Properties>
</file>