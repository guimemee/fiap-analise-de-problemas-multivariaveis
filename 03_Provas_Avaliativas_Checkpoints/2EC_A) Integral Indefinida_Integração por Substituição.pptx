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4"/>
  </p:sldMasterIdLst>
  <p:notesMasterIdLst>
    <p:notesMasterId r:id="rId47"/>
  </p:notesMasterIdLst>
  <p:sldIdLst>
    <p:sldId id="902" r:id="rId5"/>
    <p:sldId id="991" r:id="rId6"/>
    <p:sldId id="961" r:id="rId7"/>
    <p:sldId id="992" r:id="rId8"/>
    <p:sldId id="993" r:id="rId9"/>
    <p:sldId id="994" r:id="rId10"/>
    <p:sldId id="995" r:id="rId11"/>
    <p:sldId id="1022" r:id="rId12"/>
    <p:sldId id="953" r:id="rId13"/>
    <p:sldId id="1023" r:id="rId14"/>
    <p:sldId id="952" r:id="rId15"/>
    <p:sldId id="1037" r:id="rId16"/>
    <p:sldId id="1018" r:id="rId17"/>
    <p:sldId id="1017" r:id="rId18"/>
    <p:sldId id="1002" r:id="rId19"/>
    <p:sldId id="1004" r:id="rId20"/>
    <p:sldId id="996" r:id="rId21"/>
    <p:sldId id="997" r:id="rId22"/>
    <p:sldId id="954" r:id="rId23"/>
    <p:sldId id="1024" r:id="rId24"/>
    <p:sldId id="998" r:id="rId25"/>
    <p:sldId id="1025" r:id="rId26"/>
    <p:sldId id="1000" r:id="rId27"/>
    <p:sldId id="1026" r:id="rId28"/>
    <p:sldId id="1027" r:id="rId29"/>
    <p:sldId id="1028" r:id="rId30"/>
    <p:sldId id="1029" r:id="rId31"/>
    <p:sldId id="1030" r:id="rId32"/>
    <p:sldId id="1031" r:id="rId33"/>
    <p:sldId id="1019" r:id="rId34"/>
    <p:sldId id="951" r:id="rId35"/>
    <p:sldId id="973" r:id="rId36"/>
    <p:sldId id="974" r:id="rId37"/>
    <p:sldId id="975" r:id="rId38"/>
    <p:sldId id="980" r:id="rId39"/>
    <p:sldId id="979" r:id="rId40"/>
    <p:sldId id="1016" r:id="rId41"/>
    <p:sldId id="977" r:id="rId42"/>
    <p:sldId id="976" r:id="rId43"/>
    <p:sldId id="981" r:id="rId44"/>
    <p:sldId id="950" r:id="rId45"/>
    <p:sldId id="990" r:id="rId46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mael de Araujo Silva" initials="IdAS" lastIdx="1" clrIdx="0">
    <p:extLst>
      <p:ext uri="{19B8F6BF-5375-455C-9EA6-DF929625EA0E}">
        <p15:presenceInfo xmlns:p15="http://schemas.microsoft.com/office/powerpoint/2012/main" userId="7f450d086c65704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FFCC"/>
    <a:srgbClr val="9900CC"/>
    <a:srgbClr val="0000FF"/>
    <a:srgbClr val="FFFF00"/>
    <a:srgbClr val="33CCCC"/>
    <a:srgbClr val="00FF99"/>
    <a:srgbClr val="FF9900"/>
    <a:srgbClr val="C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86443" autoAdjust="0"/>
  </p:normalViewPr>
  <p:slideViewPr>
    <p:cSldViewPr>
      <p:cViewPr varScale="1">
        <p:scale>
          <a:sx n="78" d="100"/>
          <a:sy n="78" d="100"/>
        </p:scale>
        <p:origin x="74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8T15:27:03.25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95,'0'-94,"0"7512,0-7441,0-4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BA73DA2-9B64-4FED-9C82-BFBEF80F78F3}" type="datetimeFigureOut">
              <a:rPr lang="pt-BR" smtClean="0"/>
              <a:pPr/>
              <a:t>26/02/2023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41CFA72-B01C-402E-8568-ECC646405A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46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097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48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868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10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289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803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1717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272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337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864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832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161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104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740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694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207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179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965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2140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8175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6406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0705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992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783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846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3871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322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9691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750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457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0458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6255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689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6231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4301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244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5428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4396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2168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23052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81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8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5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9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1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9645F-4DC9-2A48-BCBD-A4EEB864727C}" type="datetimeFigureOut">
              <a:rPr lang="en-US" smtClean="0"/>
              <a:t>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6.png"/><Relationship Id="rId5" Type="http://schemas.openxmlformats.org/officeDocument/2006/relationships/image" Target="../media/image3.png"/><Relationship Id="rId10" Type="http://schemas.openxmlformats.org/officeDocument/2006/relationships/image" Target="../media/image55.png"/><Relationship Id="rId4" Type="http://schemas.openxmlformats.org/officeDocument/2006/relationships/image" Target="../media/image5.png"/><Relationship Id="rId9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8.png"/><Relationship Id="rId5" Type="http://schemas.openxmlformats.org/officeDocument/2006/relationships/image" Target="../media/image3.png"/><Relationship Id="rId10" Type="http://schemas.openxmlformats.org/officeDocument/2006/relationships/image" Target="../media/image57.png"/><Relationship Id="rId4" Type="http://schemas.openxmlformats.org/officeDocument/2006/relationships/image" Target="../media/image5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1.png"/><Relationship Id="rId5" Type="http://schemas.openxmlformats.org/officeDocument/2006/relationships/image" Target="../media/image3.png"/><Relationship Id="rId10" Type="http://schemas.openxmlformats.org/officeDocument/2006/relationships/image" Target="../media/image60.png"/><Relationship Id="rId4" Type="http://schemas.openxmlformats.org/officeDocument/2006/relationships/image" Target="../media/image5.png"/><Relationship Id="rId9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65.png"/><Relationship Id="rId5" Type="http://schemas.openxmlformats.org/officeDocument/2006/relationships/image" Target="../media/image3.png"/><Relationship Id="rId10" Type="http://schemas.openxmlformats.org/officeDocument/2006/relationships/customXml" Target="../ink/ink1.xml"/><Relationship Id="rId4" Type="http://schemas.openxmlformats.org/officeDocument/2006/relationships/image" Target="../media/image5.png"/><Relationship Id="rId9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" y="264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3E2EBD6-3C69-4A23-8C76-F7A3F4A51F3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5894972-3E97-435F-B25A-702790A0A669}"/>
              </a:ext>
            </a:extLst>
          </p:cNvPr>
          <p:cNvSpPr txBox="1"/>
          <p:nvPr/>
        </p:nvSpPr>
        <p:spPr>
          <a:xfrm>
            <a:off x="3409556" y="836712"/>
            <a:ext cx="50128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Arial Nova" panose="020B0504020202020204" pitchFamily="34" charset="0"/>
              </a:rPr>
              <a:t>INTEGRAL  INDEFINIDA</a:t>
            </a:r>
          </a:p>
          <a:p>
            <a:pPr algn="ctr"/>
            <a:r>
              <a:rPr lang="pt-BR" sz="2800" dirty="0">
                <a:solidFill>
                  <a:srgbClr val="00B0F0"/>
                </a:solidFill>
                <a:latin typeface="Arial Nova" panose="020B0504020202020204" pitchFamily="34" charset="0"/>
              </a:rPr>
              <a:t>MÉTODOS DE INTEGRAÇÃO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0E3607-0DCE-49FB-BF5C-8F6E70CA5751}"/>
              </a:ext>
            </a:extLst>
          </p:cNvPr>
          <p:cNvSpPr txBox="1"/>
          <p:nvPr/>
        </p:nvSpPr>
        <p:spPr>
          <a:xfrm>
            <a:off x="2423592" y="2204864"/>
            <a:ext cx="6984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00B0F0"/>
                </a:solidFill>
                <a:latin typeface="Arial Nova" panose="020B0504020202020204" pitchFamily="34" charset="0"/>
              </a:rPr>
              <a:t>A) </a:t>
            </a:r>
            <a:r>
              <a:rPr lang="pt-BR" sz="2800" dirty="0">
                <a:solidFill>
                  <a:srgbClr val="FF0066"/>
                </a:solidFill>
                <a:latin typeface="Arial Nova" panose="020B0504020202020204" pitchFamily="34" charset="0"/>
              </a:rPr>
              <a:t>INTEGRAÇÃO POR SUBSTITUIÇÃO OU MUDANÇA DE VARIÁVEL</a:t>
            </a:r>
            <a:endParaRPr lang="pt-BR" sz="2800" b="1" dirty="0">
              <a:solidFill>
                <a:srgbClr val="FF0066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C2B46E-1CF9-4857-9CC7-4982CEAD711C}"/>
              </a:ext>
            </a:extLst>
          </p:cNvPr>
          <p:cNvSpPr txBox="1"/>
          <p:nvPr/>
        </p:nvSpPr>
        <p:spPr>
          <a:xfrm>
            <a:off x="9423742" y="5738650"/>
            <a:ext cx="2463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profismael@fiap.com.br</a:t>
            </a:r>
          </a:p>
        </p:txBody>
      </p:sp>
    </p:spTree>
    <p:extLst>
      <p:ext uri="{BB962C8B-B14F-4D97-AF65-F5344CB8AC3E}">
        <p14:creationId xmlns:p14="http://schemas.microsoft.com/office/powerpoint/2010/main" val="24894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804672" y="338328"/>
            <a:ext cx="3877056" cy="2249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sz="5000" b="1" dirty="0">
                <a:solidFill>
                  <a:srgbClr val="FF0000"/>
                </a:solidFill>
              </a:rPr>
              <a:t>		RESUMO TEÓRICO</a:t>
            </a:r>
          </a:p>
        </p:txBody>
      </p:sp>
      <p:pic>
        <p:nvPicPr>
          <p:cNvPr id="6" name="Picture 4" descr="Fogos de artifício no céu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07785" y="493028"/>
            <a:ext cx="2611316" cy="2284901"/>
          </a:xfrm>
          <a:prstGeom prst="rect">
            <a:avLst/>
          </a:prstGeom>
        </p:spPr>
      </p:pic>
      <p:pic>
        <p:nvPicPr>
          <p:cNvPr id="10" name="Picture 5" descr="Fundo preto com letras brancas&#10;&#10;Descrição gerada automaticamente com confiança mé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351" y="3155743"/>
            <a:ext cx="4768542" cy="3147238"/>
          </a:xfrm>
          <a:prstGeom prst="rect">
            <a:avLst/>
          </a:prstGeom>
        </p:spPr>
      </p:pic>
      <p:pic>
        <p:nvPicPr>
          <p:cNvPr id="11" name="Imagem 10" descr="Ícone&#10;&#10;Descrição gerada automaticament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873C26-8F64-453C-A311-7130E808A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319" y="548680"/>
            <a:ext cx="6264696" cy="548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7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0A1F37-91C3-4056-BCA4-2F1E0200A8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555622"/>
            <a:ext cx="6336704" cy="521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6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B69B27A-6EEA-4861-A8ED-E68C56633524}"/>
              </a:ext>
            </a:extLst>
          </p:cNvPr>
          <p:cNvGrpSpPr/>
          <p:nvPr/>
        </p:nvGrpSpPr>
        <p:grpSpPr>
          <a:xfrm>
            <a:off x="1206668" y="548680"/>
            <a:ext cx="7265596" cy="4680520"/>
            <a:chOff x="1206668" y="548680"/>
            <a:chExt cx="6713644" cy="4204773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C72E2702-8C71-4A71-8EDB-A8DE8EAE9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52443" y="548680"/>
              <a:ext cx="6667869" cy="1596712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43F6508-F55F-4DB1-B071-8B8BE5F4D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6668" y="2351998"/>
              <a:ext cx="6680643" cy="24014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89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549F28-FEED-4ACF-BA65-4E408CA45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489860"/>
            <a:ext cx="5904656" cy="622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1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E73C81A-3114-413C-AE72-70B2CFAD94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168" y="692696"/>
            <a:ext cx="7560840" cy="469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0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RESUMO TEÓRICO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9B7F8C-250D-40AC-AD30-A3714D4A7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152" y="836712"/>
            <a:ext cx="7704856" cy="355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9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C692E18-E50E-41AB-8185-D71113A2C4E3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DERIVAÇÃO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FEB4D-B209-48BA-91F3-36599AC44A05}"/>
              </a:ext>
            </a:extLst>
          </p:cNvPr>
          <p:cNvSpPr txBox="1"/>
          <p:nvPr/>
        </p:nvSpPr>
        <p:spPr>
          <a:xfrm>
            <a:off x="1271464" y="733506"/>
            <a:ext cx="873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Sejam   </a:t>
            </a:r>
            <a:r>
              <a:rPr lang="pt-BR" sz="2000" b="1" dirty="0">
                <a:latin typeface="Lucida Calligraphy" panose="03010101010101010101" pitchFamily="66" charset="0"/>
              </a:rPr>
              <a:t>u</a:t>
            </a:r>
            <a:r>
              <a:rPr lang="pt-BR" sz="2000" dirty="0"/>
              <a:t>    e</a:t>
            </a:r>
            <a:r>
              <a:rPr lang="pt-BR" sz="2000" dirty="0">
                <a:latin typeface="Lucida Calligraphy" panose="03010101010101010101" pitchFamily="66" charset="0"/>
              </a:rPr>
              <a:t>  </a:t>
            </a:r>
            <a:r>
              <a:rPr lang="pt-BR" sz="2000" b="1" dirty="0">
                <a:latin typeface="Lucida Calligraphy" panose="03010101010101010101" pitchFamily="66" charset="0"/>
              </a:rPr>
              <a:t>v  </a:t>
            </a:r>
            <a:r>
              <a:rPr lang="pt-BR" sz="2000" dirty="0"/>
              <a:t>funções deriváveis na variável </a:t>
            </a:r>
            <a:r>
              <a:rPr lang="pt-BR" sz="2000" b="1" dirty="0">
                <a:latin typeface="Lucida Calligraphy" panose="03010101010101010101" pitchFamily="66" charset="0"/>
              </a:rPr>
              <a:t>x</a:t>
            </a:r>
            <a:r>
              <a:rPr lang="pt-BR" sz="2000" b="1" dirty="0"/>
              <a:t>,   “</a:t>
            </a:r>
            <a:r>
              <a:rPr lang="pt-BR" sz="2000" b="1" dirty="0">
                <a:latin typeface="Lucida Calligraphy" panose="03010101010101010101" pitchFamily="66" charset="0"/>
              </a:rPr>
              <a:t>a</a:t>
            </a:r>
            <a:r>
              <a:rPr lang="pt-BR" sz="2000" b="1" dirty="0"/>
              <a:t>”</a:t>
            </a:r>
            <a:r>
              <a:rPr lang="pt-BR" sz="2000" dirty="0"/>
              <a:t>  e   “</a:t>
            </a:r>
            <a:r>
              <a:rPr lang="pt-BR" sz="2000" b="1" dirty="0">
                <a:latin typeface="Lucida Calligraphy" panose="03010101010101010101" pitchFamily="66" charset="0"/>
              </a:rPr>
              <a:t>n</a:t>
            </a:r>
            <a:r>
              <a:rPr lang="pt-BR" sz="2000" b="1" dirty="0"/>
              <a:t>” </a:t>
            </a:r>
            <a:r>
              <a:rPr lang="pt-BR" sz="2000" dirty="0"/>
              <a:t> são constantes: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8CC597-00E4-43F8-B078-D86E4BEC1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464" y="1200121"/>
            <a:ext cx="6865212" cy="3573635"/>
          </a:xfrm>
          <a:prstGeom prst="rect">
            <a:avLst/>
          </a:prstGeom>
        </p:spPr>
      </p:pic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025666DB-8320-42DC-B16A-56369773B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047012"/>
              </p:ext>
            </p:extLst>
          </p:nvPr>
        </p:nvGraphicFramePr>
        <p:xfrm>
          <a:off x="8192646" y="3991303"/>
          <a:ext cx="2535238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320800" imgH="1028700" progId="Equation.3">
                  <p:embed/>
                </p:oleObj>
              </mc:Choice>
              <mc:Fallback>
                <p:oleObj name="Equação" r:id="rId8" imgW="1320800" imgH="102870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FB5828A9-2E12-4813-95D0-78062570A0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2646" y="3991303"/>
                        <a:ext cx="2535238" cy="197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187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C692E18-E50E-41AB-8185-D71113A2C4E3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DERIVAÇÃO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FEB4D-B209-48BA-91F3-36599AC44A05}"/>
              </a:ext>
            </a:extLst>
          </p:cNvPr>
          <p:cNvSpPr txBox="1"/>
          <p:nvPr/>
        </p:nvSpPr>
        <p:spPr>
          <a:xfrm>
            <a:off x="1271464" y="733506"/>
            <a:ext cx="8739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Sejam   </a:t>
            </a:r>
            <a:r>
              <a:rPr lang="pt-BR" sz="2000" b="1" dirty="0">
                <a:latin typeface="Lucida Calligraphy" panose="03010101010101010101" pitchFamily="66" charset="0"/>
              </a:rPr>
              <a:t>u</a:t>
            </a:r>
            <a:r>
              <a:rPr lang="pt-BR" sz="2000" dirty="0"/>
              <a:t>    e</a:t>
            </a:r>
            <a:r>
              <a:rPr lang="pt-BR" sz="2000" dirty="0">
                <a:latin typeface="Lucida Calligraphy" panose="03010101010101010101" pitchFamily="66" charset="0"/>
              </a:rPr>
              <a:t>  </a:t>
            </a:r>
            <a:r>
              <a:rPr lang="pt-BR" sz="2000" b="1" dirty="0">
                <a:latin typeface="Lucida Calligraphy" panose="03010101010101010101" pitchFamily="66" charset="0"/>
              </a:rPr>
              <a:t>v  </a:t>
            </a:r>
            <a:r>
              <a:rPr lang="pt-BR" sz="2000" dirty="0"/>
              <a:t>funções deriváveis na variável </a:t>
            </a:r>
            <a:r>
              <a:rPr lang="pt-BR" sz="2000" b="1" dirty="0">
                <a:latin typeface="Lucida Calligraphy" panose="03010101010101010101" pitchFamily="66" charset="0"/>
              </a:rPr>
              <a:t>x</a:t>
            </a:r>
            <a:r>
              <a:rPr lang="pt-BR" sz="2000" b="1" dirty="0"/>
              <a:t>,   “</a:t>
            </a:r>
            <a:r>
              <a:rPr lang="pt-BR" sz="2000" b="1" dirty="0">
                <a:latin typeface="Lucida Calligraphy" panose="03010101010101010101" pitchFamily="66" charset="0"/>
              </a:rPr>
              <a:t>a</a:t>
            </a:r>
            <a:r>
              <a:rPr lang="pt-BR" sz="2000" b="1" dirty="0"/>
              <a:t>”</a:t>
            </a:r>
            <a:r>
              <a:rPr lang="pt-BR" sz="2000" dirty="0"/>
              <a:t>  e   “</a:t>
            </a:r>
            <a:r>
              <a:rPr lang="pt-BR" sz="2000" b="1" dirty="0">
                <a:latin typeface="Lucida Calligraphy" panose="03010101010101010101" pitchFamily="66" charset="0"/>
              </a:rPr>
              <a:t>n</a:t>
            </a:r>
            <a:r>
              <a:rPr lang="pt-BR" sz="2000" b="1" dirty="0"/>
              <a:t>” </a:t>
            </a:r>
            <a:r>
              <a:rPr lang="pt-BR" sz="2000" dirty="0"/>
              <a:t> são constantes: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0C14E4-849C-4453-ACC0-EBC1B2A86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5056" y="2971475"/>
            <a:ext cx="4032448" cy="31548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7988A30-8CFD-46EB-941C-877AA1A889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464" y="1245468"/>
            <a:ext cx="4991884" cy="197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9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580E893-DA9C-4FDD-A9EE-54E61DB8DDA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INTEGRAÇÃO</a:t>
            </a:r>
          </a:p>
        </p:txBody>
      </p:sp>
      <p:graphicFrame>
        <p:nvGraphicFramePr>
          <p:cNvPr id="7" name="Espaço Reservado para Conteúdo 3">
            <a:extLst>
              <a:ext uri="{FF2B5EF4-FFF2-40B4-BE49-F238E27FC236}">
                <a16:creationId xmlns:a16="http://schemas.microsoft.com/office/drawing/2014/main" id="{3D31C18C-753E-4055-A5F0-F2E83FFB1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7063"/>
              </p:ext>
            </p:extLst>
          </p:nvPr>
        </p:nvGraphicFramePr>
        <p:xfrm>
          <a:off x="1343472" y="493580"/>
          <a:ext cx="8824646" cy="6081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7924800" imgH="5461000" progId="Equation.3">
                  <p:embed/>
                </p:oleObj>
              </mc:Choice>
              <mc:Fallback>
                <p:oleObj name="Equação" r:id="rId6" imgW="7924800" imgH="5461000" progId="Equation.3">
                  <p:embed/>
                  <p:pic>
                    <p:nvPicPr>
                      <p:cNvPr id="7" name="Espaço Reservado para Conteúdo 3">
                        <a:extLst>
                          <a:ext uri="{FF2B5EF4-FFF2-40B4-BE49-F238E27FC236}">
                            <a16:creationId xmlns:a16="http://schemas.microsoft.com/office/drawing/2014/main" id="{DABA09A4-FC3C-4DD1-8948-703E60F57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493580"/>
                        <a:ext cx="8824646" cy="608140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938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580E893-DA9C-4FDD-A9EE-54E61DB8DDA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FÓRMULAS DE INTEGRAÇÃO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E59480F-1E7E-443B-BC6B-00BBC8CA4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32" y="692696"/>
            <a:ext cx="5642039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0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911424" y="1635478"/>
            <a:ext cx="3199487" cy="11664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sz="5000" b="1">
                <a:solidFill>
                  <a:srgbClr val="FF0000"/>
                </a:solidFill>
              </a:rPr>
              <a:t>EXEMPLOS</a:t>
            </a:r>
            <a:endParaRPr lang="en-US" altLang="pt-BR" sz="5000" b="1" dirty="0">
              <a:solidFill>
                <a:srgbClr val="FF0000"/>
              </a:solidFill>
            </a:endParaRPr>
          </a:p>
        </p:txBody>
      </p:sp>
      <p:pic>
        <p:nvPicPr>
          <p:cNvPr id="6" name="Picture 4" descr="Fogos de artifício no céu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07785" y="493028"/>
            <a:ext cx="2611316" cy="2284901"/>
          </a:xfrm>
          <a:prstGeom prst="rect">
            <a:avLst/>
          </a:prstGeom>
        </p:spPr>
      </p:pic>
      <p:pic>
        <p:nvPicPr>
          <p:cNvPr id="10" name="Picture 5" descr="Fundo preto com letras brancas&#10;&#10;Descrição gerada automaticamente com confiança mé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351" y="3155743"/>
            <a:ext cx="4768542" cy="3147238"/>
          </a:xfrm>
          <a:prstGeom prst="rect">
            <a:avLst/>
          </a:prstGeom>
        </p:spPr>
      </p:pic>
      <p:pic>
        <p:nvPicPr>
          <p:cNvPr id="11" name="Imagem 10" descr="Ícone&#10;&#10;Descrição gerada automaticament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95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72" y="4077072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07522B5-3AA7-4B44-AD52-34938276FC62}"/>
              </a:ext>
            </a:extLst>
          </p:cNvPr>
          <p:cNvGrpSpPr/>
          <p:nvPr/>
        </p:nvGrpSpPr>
        <p:grpSpPr>
          <a:xfrm>
            <a:off x="983432" y="444497"/>
            <a:ext cx="10704847" cy="4498539"/>
            <a:chOff x="983432" y="444497"/>
            <a:chExt cx="10704847" cy="449853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A28970E3-9877-4CB6-8F55-DEC5C1293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3432" y="1240939"/>
              <a:ext cx="8525401" cy="3702097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5BC4FE14-66B0-416A-A97D-C4DD52DB2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44273" y="444497"/>
              <a:ext cx="3083329" cy="536231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A5A81AB7-7AD2-4DD7-AEDF-E88FFEE5B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44273" y="2689259"/>
              <a:ext cx="3544006" cy="8054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649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2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13B655E-E2A9-4DBE-8680-F84C3AF98CC8}"/>
              </a:ext>
            </a:extLst>
          </p:cNvPr>
          <p:cNvGrpSpPr/>
          <p:nvPr/>
        </p:nvGrpSpPr>
        <p:grpSpPr>
          <a:xfrm>
            <a:off x="983432" y="445517"/>
            <a:ext cx="9368188" cy="2605905"/>
            <a:chOff x="983432" y="445517"/>
            <a:chExt cx="9368188" cy="260590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442292C-C78F-49F2-BB77-5DF86E21F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6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83432" y="1514542"/>
              <a:ext cx="9368188" cy="1536880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B72329FC-F2DE-4E18-9D6B-49B8855D7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92143" y="445517"/>
              <a:ext cx="2811683" cy="6792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19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3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872CAF8-7D88-4BE9-9C3C-ECF0B9F06902}"/>
              </a:ext>
            </a:extLst>
          </p:cNvPr>
          <p:cNvGrpSpPr/>
          <p:nvPr/>
        </p:nvGrpSpPr>
        <p:grpSpPr>
          <a:xfrm>
            <a:off x="1127448" y="428625"/>
            <a:ext cx="8789656" cy="4087470"/>
            <a:chOff x="1127448" y="428625"/>
            <a:chExt cx="8789656" cy="408747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FBC3018-7008-4143-AAC1-F532F07B2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448" y="692696"/>
              <a:ext cx="5419160" cy="3823399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5ABA8C2-9341-4F6A-9EB6-799317530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24192" y="428625"/>
              <a:ext cx="2092912" cy="647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537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4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834B79F-EA8B-4F59-AF99-83E6F4E7BBF1}"/>
              </a:ext>
            </a:extLst>
          </p:cNvPr>
          <p:cNvGrpSpPr/>
          <p:nvPr/>
        </p:nvGrpSpPr>
        <p:grpSpPr>
          <a:xfrm>
            <a:off x="1199456" y="428625"/>
            <a:ext cx="10025434" cy="5088607"/>
            <a:chOff x="1199456" y="428625"/>
            <a:chExt cx="10025434" cy="508860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7BDA810-DD4E-408C-AB27-3524E10B5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9456" y="593722"/>
              <a:ext cx="7166324" cy="492351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FC57AF1-111D-40A2-8B07-812F3F0D7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50297" y="428625"/>
              <a:ext cx="3174593" cy="552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369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5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6B718520-74D3-4F47-84DA-676FD64A4F31}"/>
              </a:ext>
            </a:extLst>
          </p:cNvPr>
          <p:cNvGrpSpPr/>
          <p:nvPr/>
        </p:nvGrpSpPr>
        <p:grpSpPr>
          <a:xfrm>
            <a:off x="1225536" y="434064"/>
            <a:ext cx="9024388" cy="2994936"/>
            <a:chOff x="1225536" y="434064"/>
            <a:chExt cx="9024388" cy="2994936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A519430-B418-4EE2-9712-EAE3C1175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5536" y="679314"/>
              <a:ext cx="5898520" cy="2749686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C31CB6E1-878C-4097-A670-C13AAA7EC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98059" y="434064"/>
              <a:ext cx="2451865" cy="6241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284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C429B23-D0F0-4D70-AB30-66616DD10317}"/>
              </a:ext>
            </a:extLst>
          </p:cNvPr>
          <p:cNvGrpSpPr/>
          <p:nvPr/>
        </p:nvGrpSpPr>
        <p:grpSpPr>
          <a:xfrm>
            <a:off x="1127448" y="422080"/>
            <a:ext cx="8831180" cy="4740911"/>
            <a:chOff x="1127448" y="422080"/>
            <a:chExt cx="8831180" cy="47409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176D95C2-4EF4-46C6-9EF9-FB08F76B28BA}"/>
                    </a:ext>
                  </a:extLst>
                </p:cNvPr>
                <p:cNvSpPr txBox="1"/>
                <p:nvPr/>
              </p:nvSpPr>
              <p:spPr>
                <a:xfrm>
                  <a:off x="1127448" y="836712"/>
                  <a:ext cx="1509901" cy="5664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176D95C2-4EF4-46C6-9EF9-FB08F76B28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448" y="836712"/>
                  <a:ext cx="1509901" cy="5664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D6371D7-EF2F-4B61-808C-081D5A278915}"/>
                    </a:ext>
                  </a:extLst>
                </p:cNvPr>
                <p:cNvSpPr txBox="1"/>
                <p:nvPr/>
              </p:nvSpPr>
              <p:spPr>
                <a:xfrm>
                  <a:off x="1223916" y="1811236"/>
                  <a:ext cx="5550879" cy="803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pt-BR" i="1" dirty="0">
                      <a:latin typeface="Cambria Math" panose="02040503050406030204" pitchFamily="18" charset="0"/>
                    </a:rPr>
                    <a:t>Preparação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+2       </m:t>
                        </m:r>
                        <m:f>
                          <m:fPr>
                            <m:ctrlPr>
                              <a:rPr lang="pt-BR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pt-BR" i="0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</m:t>
                        </m:r>
                        <m:r>
                          <a:rPr lang="pt-BR" dirty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=3ⅆ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</m:t>
                        </m:r>
                        <m:f>
                          <m:fPr>
                            <m:ctrlPr>
                              <a:rPr lang="pt-BR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pt-BR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D6371D7-EF2F-4B61-808C-081D5A278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16" y="1811236"/>
                  <a:ext cx="5550879" cy="803040"/>
                </a:xfrm>
                <a:prstGeom prst="rect">
                  <a:avLst/>
                </a:prstGeom>
                <a:blipFill>
                  <a:blip r:embed="rId10"/>
                  <a:stretch>
                    <a:fillRect l="-2637" t="-1060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7E9CD2CC-3909-42CB-BFBB-2BB004D60198}"/>
                    </a:ext>
                  </a:extLst>
                </p:cNvPr>
                <p:cNvSpPr txBox="1"/>
                <p:nvPr/>
              </p:nvSpPr>
              <p:spPr>
                <a:xfrm>
                  <a:off x="1223916" y="2986626"/>
                  <a:ext cx="6384252" cy="21763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𝐴𝑠𝑠𝑖𝑚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pt-BR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==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7E9CD2CC-3909-42CB-BFBB-2BB004D60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16" y="2986626"/>
                  <a:ext cx="6384252" cy="2176365"/>
                </a:xfrm>
                <a:prstGeom prst="rect">
                  <a:avLst/>
                </a:prstGeom>
                <a:blipFill>
                  <a:blip r:embed="rId11"/>
                  <a:stretch>
                    <a:fillRect l="-9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C2691755-E03F-45C3-BF17-59F4B4E66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88088" y="422080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610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7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E1EA7D5-3FC5-409C-8F12-CD87B2E0F05F}"/>
              </a:ext>
            </a:extLst>
          </p:cNvPr>
          <p:cNvGrpSpPr/>
          <p:nvPr/>
        </p:nvGrpSpPr>
        <p:grpSpPr>
          <a:xfrm>
            <a:off x="1223916" y="452049"/>
            <a:ext cx="8863275" cy="4729921"/>
            <a:chOff x="1223916" y="452049"/>
            <a:chExt cx="8863275" cy="47299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D6371D7-EF2F-4B61-808C-081D5A278915}"/>
                    </a:ext>
                  </a:extLst>
                </p:cNvPr>
                <p:cNvSpPr txBox="1"/>
                <p:nvPr/>
              </p:nvSpPr>
              <p:spPr>
                <a:xfrm>
                  <a:off x="1223916" y="1811236"/>
                  <a:ext cx="5550879" cy="803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pt-BR" i="1" dirty="0">
                      <a:latin typeface="Cambria Math" panose="02040503050406030204" pitchFamily="18" charset="0"/>
                    </a:rPr>
                    <a:t>Preparação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+2       </m:t>
                        </m:r>
                        <m:f>
                          <m:fPr>
                            <m:ctrlPr>
                              <a:rPr lang="pt-BR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pt-BR" i="0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=3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</m:t>
                        </m:r>
                        <m:r>
                          <a:rPr lang="pt-BR" dirty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=3ⅆ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</m:t>
                        </m:r>
                        <m:f>
                          <m:fPr>
                            <m:ctrlPr>
                              <a:rPr lang="pt-BR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pt-BR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D6371D7-EF2F-4B61-808C-081D5A278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16" y="1811236"/>
                  <a:ext cx="5550879" cy="803040"/>
                </a:xfrm>
                <a:prstGeom prst="rect">
                  <a:avLst/>
                </a:prstGeom>
                <a:blipFill>
                  <a:blip r:embed="rId9"/>
                  <a:stretch>
                    <a:fillRect l="-2637" t="-1060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7E9CD2CC-3909-42CB-BFBB-2BB004D60198}"/>
                    </a:ext>
                  </a:extLst>
                </p:cNvPr>
                <p:cNvSpPr txBox="1"/>
                <p:nvPr/>
              </p:nvSpPr>
              <p:spPr>
                <a:xfrm>
                  <a:off x="1223916" y="2986625"/>
                  <a:ext cx="6888308" cy="21953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𝐴𝑠𝑠𝑖𝑚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pt-BR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pt-BR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pt-BR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den>
                            </m:f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sup>
                            </m:sSup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sup>
                            </m:sSup>
                          </m:num>
                          <m:den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sup>
                            </m:sSup>
                          </m:num>
                          <m:den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==−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</m:t>
                                </m:r>
                              </m:e>
                              <m:sup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7E9CD2CC-3909-42CB-BFBB-2BB004D60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16" y="2986625"/>
                  <a:ext cx="6888308" cy="2195345"/>
                </a:xfrm>
                <a:prstGeom prst="rect">
                  <a:avLst/>
                </a:prstGeom>
                <a:blipFill>
                  <a:blip r:embed="rId10"/>
                  <a:stretch>
                    <a:fillRect l="-8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aixaDeTexto 1">
                  <a:extLst>
                    <a:ext uri="{FF2B5EF4-FFF2-40B4-BE49-F238E27FC236}">
                      <a16:creationId xmlns:a16="http://schemas.microsoft.com/office/drawing/2014/main" id="{B3270547-5CA8-4677-86E0-63CC0EDC37B6}"/>
                    </a:ext>
                  </a:extLst>
                </p:cNvPr>
                <p:cNvSpPr txBox="1"/>
                <p:nvPr/>
              </p:nvSpPr>
              <p:spPr>
                <a:xfrm>
                  <a:off x="1244620" y="721146"/>
                  <a:ext cx="1584793" cy="5816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pt-BR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pt-BR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CaixaDeTexto 1">
                  <a:extLst>
                    <a:ext uri="{FF2B5EF4-FFF2-40B4-BE49-F238E27FC236}">
                      <a16:creationId xmlns:a16="http://schemas.microsoft.com/office/drawing/2014/main" id="{B3270547-5CA8-4677-86E0-63CC0EDC3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620" y="721146"/>
                  <a:ext cx="1584793" cy="5816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1670380-C77F-4119-B7A2-BEA8A6C33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16651" y="452049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070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8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FF30BBA-98F0-48FA-902E-04EC19E6A0E6}"/>
              </a:ext>
            </a:extLst>
          </p:cNvPr>
          <p:cNvGrpSpPr/>
          <p:nvPr/>
        </p:nvGrpSpPr>
        <p:grpSpPr>
          <a:xfrm>
            <a:off x="1037310" y="428625"/>
            <a:ext cx="9151709" cy="6203236"/>
            <a:chOff x="1037310" y="428625"/>
            <a:chExt cx="9151709" cy="6203236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C8BAE16-E7DD-460D-925D-4006985FD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7310" y="620687"/>
              <a:ext cx="7315373" cy="6011174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E3C56845-C250-4794-97B9-31762398F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8479" y="428625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269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9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2FB01E4-95AF-4B7C-8B28-AFD22BD2DFCC}"/>
              </a:ext>
            </a:extLst>
          </p:cNvPr>
          <p:cNvGrpSpPr/>
          <p:nvPr/>
        </p:nvGrpSpPr>
        <p:grpSpPr>
          <a:xfrm>
            <a:off x="1223916" y="428625"/>
            <a:ext cx="8965103" cy="4869594"/>
            <a:chOff x="1223916" y="428625"/>
            <a:chExt cx="8965103" cy="48695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D6371D7-EF2F-4B61-808C-081D5A278915}"/>
                    </a:ext>
                  </a:extLst>
                </p:cNvPr>
                <p:cNvSpPr txBox="1"/>
                <p:nvPr/>
              </p:nvSpPr>
              <p:spPr>
                <a:xfrm>
                  <a:off x="1223916" y="1811236"/>
                  <a:ext cx="5550879" cy="8030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pt-BR" i="1" dirty="0">
                      <a:latin typeface="Cambria Math" panose="02040503050406030204" pitchFamily="18" charset="0"/>
                    </a:rPr>
                    <a:t>Preparação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+5       </m:t>
                        </m:r>
                        <m:f>
                          <m:fPr>
                            <m:ctrlPr>
                              <a:rPr lang="pt-BR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pt-BR" i="0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pt-B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</m:t>
                        </m:r>
                        <m:r>
                          <a:rPr lang="pt-BR" dirty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    </m:t>
                        </m:r>
                        <m:f>
                          <m:fPr>
                            <m:ctrlPr>
                              <a:rPr lang="pt-BR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dirty="0"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pt-BR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pt-BR" i="0" dirty="0">
                            <a:latin typeface="Cambria Math" panose="02040503050406030204" pitchFamily="18" charset="0"/>
                          </a:rPr>
                          <m:t>=ⅆ</m:t>
                        </m:r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" name="CaixaDeTexto 7">
                  <a:extLst>
                    <a:ext uri="{FF2B5EF4-FFF2-40B4-BE49-F238E27FC236}">
                      <a16:creationId xmlns:a16="http://schemas.microsoft.com/office/drawing/2014/main" id="{8D6371D7-EF2F-4B61-808C-081D5A278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16" y="1811236"/>
                  <a:ext cx="5550879" cy="803040"/>
                </a:xfrm>
                <a:prstGeom prst="rect">
                  <a:avLst/>
                </a:prstGeom>
                <a:blipFill>
                  <a:blip r:embed="rId9"/>
                  <a:stretch>
                    <a:fillRect l="-2637" t="-1060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7E9CD2CC-3909-42CB-BFBB-2BB004D60198}"/>
                    </a:ext>
                  </a:extLst>
                </p:cNvPr>
                <p:cNvSpPr txBox="1"/>
                <p:nvPr/>
              </p:nvSpPr>
              <p:spPr>
                <a:xfrm>
                  <a:off x="1223916" y="2986624"/>
                  <a:ext cx="6096220" cy="23115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𝐴𝑠𝑠𝑖𝑚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pt-BR" i="1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ad>
                                  <m:rad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rad>
                              </m:den>
                            </m:f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=2⋅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f>
                                  <m:fPr>
                                    <m:type m:val="skw"/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nary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=2⋅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=2⋅</m:t>
                        </m:r>
                        <m:f>
                          <m:f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pt-BR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pt-BR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=3⋅</m:t>
                        </m:r>
                        <m:rad>
                          <m:radPr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sSup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ctrlPr>
                              <a:rPr lang="pt-B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pt-BR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sSupPr>
                                <m:ctrlPr>
                                  <a:rPr lang="pt-B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pt-B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pt-BR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7E9CD2CC-3909-42CB-BFBB-2BB004D60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916" y="2986624"/>
                  <a:ext cx="6096220" cy="2311595"/>
                </a:xfrm>
                <a:prstGeom prst="rect">
                  <a:avLst/>
                </a:prstGeom>
                <a:blipFill>
                  <a:blip r:embed="rId10"/>
                  <a:stretch>
                    <a:fillRect l="-1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aixaDeTexto 1">
                  <a:extLst>
                    <a:ext uri="{FF2B5EF4-FFF2-40B4-BE49-F238E27FC236}">
                      <a16:creationId xmlns:a16="http://schemas.microsoft.com/office/drawing/2014/main" id="{B3270547-5CA8-4677-86E0-63CC0EDC37B6}"/>
                    </a:ext>
                  </a:extLst>
                </p:cNvPr>
                <p:cNvSpPr txBox="1"/>
                <p:nvPr/>
              </p:nvSpPr>
              <p:spPr>
                <a:xfrm>
                  <a:off x="1244620" y="721146"/>
                  <a:ext cx="1651927" cy="8118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pt-B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lang="pt-B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ad>
                                  <m:radPr>
                                    <m:ctrlPr>
                                      <a:rPr lang="pt-BR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</m:t>
                                    </m:r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+5)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lang="pt-B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</m:oMath>
                    </m:oMathPara>
                  </a14:m>
                  <a:endParaRPr lang="pt-BR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CaixaDeTexto 1">
                  <a:extLst>
                    <a:ext uri="{FF2B5EF4-FFF2-40B4-BE49-F238E27FC236}">
                      <a16:creationId xmlns:a16="http://schemas.microsoft.com/office/drawing/2014/main" id="{B3270547-5CA8-4677-86E0-63CC0EDC3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4620" y="721146"/>
                  <a:ext cx="1651927" cy="81182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031C2983-077A-4448-92DA-E4E2F2C9C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18479" y="428625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871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10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D0DC587-FD96-4C11-88EF-FA17D66B2233}"/>
              </a:ext>
            </a:extLst>
          </p:cNvPr>
          <p:cNvGrpSpPr/>
          <p:nvPr/>
        </p:nvGrpSpPr>
        <p:grpSpPr>
          <a:xfrm>
            <a:off x="1127448" y="428625"/>
            <a:ext cx="9061571" cy="3624315"/>
            <a:chOff x="1127448" y="428625"/>
            <a:chExt cx="9061571" cy="362431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079CF9F-CEA6-48F3-A2C6-79A245F8C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7448" y="735138"/>
              <a:ext cx="8245231" cy="3317802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DF282CAE-A347-4D3A-BF6F-FF2A43ECD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8479" y="428625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318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11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0B61963-7560-4164-89BD-6225C81321D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901074" y="6460981"/>
            <a:ext cx="1077751" cy="323280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2FCC73E-06BD-4085-A74A-3FE09C0E4809}"/>
              </a:ext>
            </a:extLst>
          </p:cNvPr>
          <p:cNvGrpSpPr/>
          <p:nvPr/>
        </p:nvGrpSpPr>
        <p:grpSpPr>
          <a:xfrm>
            <a:off x="-1" y="428625"/>
            <a:ext cx="12192001" cy="6429375"/>
            <a:chOff x="-1" y="428625"/>
            <a:chExt cx="12192001" cy="642937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2E512FCE-3588-47DC-8F08-60E4832A92C3}"/>
                </a:ext>
              </a:extLst>
            </p:cNvPr>
            <p:cNvGrpSpPr/>
            <p:nvPr/>
          </p:nvGrpSpPr>
          <p:grpSpPr>
            <a:xfrm>
              <a:off x="-1" y="428625"/>
              <a:ext cx="12192001" cy="6429375"/>
              <a:chOff x="-1" y="428625"/>
              <a:chExt cx="12192001" cy="6429375"/>
            </a:xfrm>
          </p:grpSpPr>
          <p:pic>
            <p:nvPicPr>
              <p:cNvPr id="8" name="Imagem 7">
                <a:extLst>
                  <a:ext uri="{FF2B5EF4-FFF2-40B4-BE49-F238E27FC236}">
                    <a16:creationId xmlns:a16="http://schemas.microsoft.com/office/drawing/2014/main" id="{F28225E3-4FD4-4C24-BBD0-7A5C3EE72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81670" y="428625"/>
                <a:ext cx="5010330" cy="6429375"/>
              </a:xfrm>
              <a:prstGeom prst="rect">
                <a:avLst/>
              </a:prstGeom>
            </p:spPr>
          </p:pic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663556E1-072B-4A3F-A4D2-FB0624C8C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" y="428625"/>
                <a:ext cx="7339601" cy="6429375"/>
              </a:xfrm>
              <a:prstGeom prst="rect">
                <a:avLst/>
              </a:prstGeom>
            </p:spPr>
          </p:pic>
        </p:grp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864618C-C074-4F7F-92E6-C6F10964A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21460" y="433820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675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5E27359-4D36-4339-997A-7EAD87AB74D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901074" y="6460981"/>
            <a:ext cx="1077751" cy="323280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3E24474-39D4-437A-BE9E-5691DE3BE456}"/>
              </a:ext>
            </a:extLst>
          </p:cNvPr>
          <p:cNvGrpSpPr/>
          <p:nvPr/>
        </p:nvGrpSpPr>
        <p:grpSpPr>
          <a:xfrm>
            <a:off x="-422" y="410756"/>
            <a:ext cx="12192846" cy="6446005"/>
            <a:chOff x="-422" y="410756"/>
            <a:chExt cx="12192846" cy="644600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200CEE41-D169-4B1F-A7F4-E15AF180D278}"/>
                </a:ext>
              </a:extLst>
            </p:cNvPr>
            <p:cNvGrpSpPr/>
            <p:nvPr/>
          </p:nvGrpSpPr>
          <p:grpSpPr>
            <a:xfrm>
              <a:off x="-422" y="410756"/>
              <a:ext cx="12192001" cy="6446005"/>
              <a:chOff x="-260984" y="736539"/>
              <a:chExt cx="12192001" cy="6446005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8C8C3C70-EDC4-4ADA-825A-F9C6DFF02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60984" y="6287194"/>
                <a:ext cx="12192000" cy="895350"/>
              </a:xfrm>
              <a:prstGeom prst="rect">
                <a:avLst/>
              </a:prstGeom>
            </p:spPr>
          </p:pic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E22C97E7-69D9-476B-A891-4873FB4C2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60983" y="736539"/>
                <a:ext cx="12192000" cy="5970933"/>
              </a:xfrm>
              <a:prstGeom prst="rect">
                <a:avLst/>
              </a:prstGeom>
            </p:spPr>
          </p:pic>
        </p:grp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E9580314-6577-48B7-B0C7-C3AB7AC45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87549" y="410756"/>
              <a:ext cx="904875" cy="89535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E25909F5-36BC-4950-81C6-97D2567C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98666" y="410756"/>
              <a:ext cx="2092912" cy="647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705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13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7ECE174-3F5B-4D59-A677-7C216E986215}"/>
              </a:ext>
            </a:extLst>
          </p:cNvPr>
          <p:cNvGrpSpPr/>
          <p:nvPr/>
        </p:nvGrpSpPr>
        <p:grpSpPr>
          <a:xfrm>
            <a:off x="0" y="418124"/>
            <a:ext cx="12192001" cy="6439877"/>
            <a:chOff x="0" y="418124"/>
            <a:chExt cx="12192001" cy="643987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C8C3C70-EDC4-4ADA-825A-F9C6DFF02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81670" y="418125"/>
              <a:ext cx="5010330" cy="6439876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1F43241-3D11-459E-BCB5-A32E43480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25353" y="428625"/>
              <a:ext cx="2166648" cy="658019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B866ADA7-A50F-4FB2-B823-A15C3F9F8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418124"/>
              <a:ext cx="9373759" cy="6439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634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14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469660F-FE24-4CE1-986A-E3EABBB0024A}"/>
              </a:ext>
            </a:extLst>
          </p:cNvPr>
          <p:cNvGrpSpPr/>
          <p:nvPr/>
        </p:nvGrpSpPr>
        <p:grpSpPr>
          <a:xfrm>
            <a:off x="0" y="424525"/>
            <a:ext cx="12192000" cy="6433475"/>
            <a:chOff x="0" y="424525"/>
            <a:chExt cx="12192000" cy="643347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CF1B6681-9273-4B85-A0C5-470DAA360F6B}"/>
                </a:ext>
              </a:extLst>
            </p:cNvPr>
            <p:cNvGrpSpPr/>
            <p:nvPr/>
          </p:nvGrpSpPr>
          <p:grpSpPr>
            <a:xfrm>
              <a:off x="0" y="424525"/>
              <a:ext cx="12192000" cy="6433475"/>
              <a:chOff x="0" y="424525"/>
              <a:chExt cx="12192000" cy="6433475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8C8C3C70-EDC4-4ADA-825A-F9C6DFF02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81670" y="428625"/>
                <a:ext cx="5010330" cy="6429375"/>
              </a:xfrm>
              <a:prstGeom prst="rect">
                <a:avLst/>
              </a:prstGeom>
            </p:spPr>
          </p:pic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A0AB88A6-F7D4-4748-9B4F-3AC288D5B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426575"/>
                <a:ext cx="9965532" cy="6429375"/>
              </a:xfrm>
              <a:prstGeom prst="rect">
                <a:avLst/>
              </a:prstGeom>
            </p:spPr>
          </p:pic>
          <p:pic>
            <p:nvPicPr>
              <p:cNvPr id="8" name="Imagem 7">
                <a:extLst>
                  <a:ext uri="{FF2B5EF4-FFF2-40B4-BE49-F238E27FC236}">
                    <a16:creationId xmlns:a16="http://schemas.microsoft.com/office/drawing/2014/main" id="{6BF0A958-B457-403A-A7DD-5C5A83112B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59471" y="424525"/>
                <a:ext cx="3032528" cy="640895"/>
              </a:xfrm>
              <a:prstGeom prst="rect">
                <a:avLst/>
              </a:prstGeom>
            </p:spPr>
          </p:pic>
        </p:grp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1C9D0761-3949-448D-B476-0C33CADF8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68602" y="4008777"/>
              <a:ext cx="5523398" cy="284717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F394ED2C-9A37-469D-97A6-1137CD73EC51}"/>
                  </a:ext>
                </a:extLst>
              </p14:cNvPr>
              <p14:cNvContentPartPr/>
              <p14:nvPr/>
            </p14:nvContentPartPr>
            <p14:xfrm>
              <a:off x="6658184" y="4049607"/>
              <a:ext cx="360" cy="26708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F394ED2C-9A37-469D-97A6-1137CD73EC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9544" y="4040967"/>
                <a:ext cx="18000" cy="268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443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15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885FE45-7ED1-43D5-8C02-03350B07B392}"/>
              </a:ext>
            </a:extLst>
          </p:cNvPr>
          <p:cNvGrpSpPr/>
          <p:nvPr/>
        </p:nvGrpSpPr>
        <p:grpSpPr>
          <a:xfrm>
            <a:off x="0" y="424596"/>
            <a:ext cx="12192000" cy="6433404"/>
            <a:chOff x="0" y="424596"/>
            <a:chExt cx="12192000" cy="6433404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F13062A-4919-4F36-83BE-1662DD06FA89}"/>
                </a:ext>
              </a:extLst>
            </p:cNvPr>
            <p:cNvGrpSpPr/>
            <p:nvPr/>
          </p:nvGrpSpPr>
          <p:grpSpPr>
            <a:xfrm>
              <a:off x="0" y="424596"/>
              <a:ext cx="12192000" cy="6433404"/>
              <a:chOff x="0" y="424596"/>
              <a:chExt cx="12192000" cy="6433404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8C8C3C70-EDC4-4ADA-825A-F9C6DFF02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81670" y="428625"/>
                <a:ext cx="5010330" cy="6429375"/>
              </a:xfrm>
              <a:prstGeom prst="rect">
                <a:avLst/>
              </a:prstGeom>
            </p:spPr>
          </p:pic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202757BD-3CAA-4C3C-98AE-6DED0DCB87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424596"/>
                <a:ext cx="9814411" cy="6433404"/>
              </a:xfrm>
              <a:prstGeom prst="rect">
                <a:avLst/>
              </a:prstGeom>
            </p:spPr>
          </p:pic>
        </p:grp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0AB7C6F7-2B96-4CD7-9148-170B6EC19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21460" y="433820"/>
              <a:ext cx="3070540" cy="69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211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EXEMPLO  16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AD7DFAA-12E4-4EC9-A1B5-27D7B109B757}"/>
              </a:ext>
            </a:extLst>
          </p:cNvPr>
          <p:cNvGrpSpPr/>
          <p:nvPr/>
        </p:nvGrpSpPr>
        <p:grpSpPr>
          <a:xfrm>
            <a:off x="0" y="428625"/>
            <a:ext cx="12192000" cy="6429375"/>
            <a:chOff x="0" y="428625"/>
            <a:chExt cx="12192000" cy="642937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C8C3C70-EDC4-4ADA-825A-F9C6DFF02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72064" y="428625"/>
              <a:ext cx="5519936" cy="6429375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BC51958-85D9-4384-B731-265346F87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428625"/>
              <a:ext cx="6755739" cy="6429375"/>
            </a:xfrm>
            <a:prstGeom prst="rect">
              <a:avLst/>
            </a:prstGeom>
          </p:spPr>
        </p:pic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C656835E-AD64-46F0-8FB8-C07AEE498F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1460" y="433820"/>
            <a:ext cx="3070540" cy="69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66AD253-1924-4F4A-9FAB-B9B53C183304}"/>
              </a:ext>
            </a:extLst>
          </p:cNvPr>
          <p:cNvSpPr txBox="1">
            <a:spLocks/>
          </p:cNvSpPr>
          <p:nvPr/>
        </p:nvSpPr>
        <p:spPr>
          <a:xfrm>
            <a:off x="911424" y="1635478"/>
            <a:ext cx="3744416" cy="11664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pt-BR" sz="5000" b="1" dirty="0">
                <a:solidFill>
                  <a:srgbClr val="FF0000"/>
                </a:solidFill>
              </a:rPr>
              <a:t>EXERCÍCIOS</a:t>
            </a:r>
          </a:p>
        </p:txBody>
      </p:sp>
      <p:pic>
        <p:nvPicPr>
          <p:cNvPr id="6" name="Picture 4" descr="Fogos de artifício no céu&#10;&#10;Descrição gerada automaticamente com confiança mé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207785" y="493028"/>
            <a:ext cx="2611316" cy="2284901"/>
          </a:xfrm>
          <a:prstGeom prst="rect">
            <a:avLst/>
          </a:prstGeom>
        </p:spPr>
      </p:pic>
      <p:pic>
        <p:nvPicPr>
          <p:cNvPr id="10" name="Picture 5" descr="Fundo preto com letras brancas&#10;&#10;Descrição gerada automaticamente com confiança méd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351" y="3155743"/>
            <a:ext cx="4768542" cy="3147238"/>
          </a:xfrm>
          <a:prstGeom prst="rect">
            <a:avLst/>
          </a:prstGeom>
        </p:spPr>
      </p:pic>
      <p:pic>
        <p:nvPicPr>
          <p:cNvPr id="11" name="Imagem 10" descr="Ícone&#10;&#10;Descrição gerada automaticamente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1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1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46C24CEC-C8EF-4756-9507-EC930596E19B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FFE6AFC-D31C-4E60-93F3-A664376EE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967" y="1267260"/>
            <a:ext cx="1916995" cy="6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5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2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7BAAB53-6BA6-4F4A-A293-1DC3420276F8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B328DB5-D81F-424D-8442-7A2BEB474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102" y="1213844"/>
            <a:ext cx="19907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6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3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2036A21-9E1F-43AA-83B1-DA464333A57E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F2745F5-0309-4E30-8711-7FFE4406C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1224852"/>
            <a:ext cx="11525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0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4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2BCDAD9-3F78-4878-8139-AB57D935E3C9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24FBAED-C0D1-4AB1-9393-3D350B790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464" y="1140757"/>
            <a:ext cx="13144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1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5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60B5A49-39EB-4EDF-AAEF-57CF9245A89E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C4F8052-4074-4315-85EF-A7F4325C9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1195401"/>
            <a:ext cx="16478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6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6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9BB1C01-C6B5-4DC6-9C83-1254E30CBFF7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BAC401A-8C21-47EF-A862-F809DFCB0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456" y="1258876"/>
            <a:ext cx="14668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2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7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9337572-32B4-4DC6-B756-4522588002BC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5BD0310-52A4-4308-8206-F75DFD419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1224963"/>
            <a:ext cx="19335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7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8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0248F7B-3FD5-4EE1-B513-A645C6448948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3A18E67-544E-4611-99F4-8521ACAD2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674" y="1215059"/>
            <a:ext cx="18383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5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9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B2DC50B-1D3B-4661-85AB-6B4D15215301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CF019E-4127-4C73-B053-7C64CAEF8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48" y="1178836"/>
            <a:ext cx="17430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0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5B61DEED-437A-48E9-8C8B-2AE70413E5E2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EXERCÍCIO  10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61F9F23-5C13-45B8-8D84-74AD63405E5B}"/>
              </a:ext>
            </a:extLst>
          </p:cNvPr>
          <p:cNvSpPr txBox="1">
            <a:spLocks/>
          </p:cNvSpPr>
          <p:nvPr/>
        </p:nvSpPr>
        <p:spPr>
          <a:xfrm>
            <a:off x="1127448" y="620688"/>
            <a:ext cx="2428875" cy="428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42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7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609585" rtl="0" eaLnBrk="1" latinLnBrk="0" hangingPunct="1">
              <a:spcBef>
                <a:spcPct val="20000"/>
              </a:spcBef>
              <a:buFont typeface="Arial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 a integral: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endParaRPr lang="pt-BR" altLang="pt-BR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>
              <a:lnSpc>
                <a:spcPts val="2800"/>
              </a:lnSpc>
              <a:buFont typeface="Arial" panose="020B0604020202020204" pitchFamily="34" charset="0"/>
              <a:buNone/>
            </a:pPr>
            <a:r>
              <a:rPr lang="pt-BR" alt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D90C205-B8DA-4342-8C79-32EAA2E30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456" y="1317897"/>
            <a:ext cx="16192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0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012B03E6-D7F4-4472-AC61-C418EC8CE67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192000" cy="4286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RESPOSTAS DOS EXERCÍCIOS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21157C90-266F-4EB9-91E0-1C2E0ACDDC16}"/>
                  </a:ext>
                </a:extLst>
              </p:cNvPr>
              <p:cNvSpPr txBox="1"/>
              <p:nvPr/>
            </p:nvSpPr>
            <p:spPr bwMode="auto">
              <a:xfrm>
                <a:off x="1199456" y="620688"/>
                <a:ext cx="4176340" cy="5544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 marL="342900" indent="-342900">
                  <a:lnSpc>
                    <a:spcPct val="120000"/>
                  </a:lnSpc>
                  <a:buAutoNum type="arabicParenR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pt-BR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pt-BR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pt-BR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pt-BR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pt-BR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nor/>
                        </m:rP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sen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nor/>
                        </m:rPr>
                        <a:rPr lang="pt-BR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  <m:oMath xmlns:m="http://schemas.openxmlformats.org/officeDocument/2006/math"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5−2</m:t>
                          </m:r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pt-BR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4)</a:t>
                </a:r>
                <a:r>
                  <a:rPr lang="pt-BR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pt-B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pt-BR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pt-BR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pt-BR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nor/>
                          </m:rPr>
                          <a:rPr lang="pt-BR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pt-BR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pt-BR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pt-BR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(3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  <m: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pt-BR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  <m:oMath xmlns:m="http://schemas.openxmlformats.org/officeDocument/2006/math">
                      <m: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(4−3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9)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pt-BR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a:rPr lang="pt-BR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rad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pt-BR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pt-BR" dirty="0">
                    <a:solidFill>
                      <a:srgbClr val="000000"/>
                    </a:solidFill>
                  </a:rPr>
                  <a:t>10)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(1−2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²</m:t>
                    </m:r>
                    <m:sSup>
                      <m:sSupPr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21157C90-266F-4EB9-91E0-1C2E0ACDD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456" y="620688"/>
                <a:ext cx="4176340" cy="5544616"/>
              </a:xfrm>
              <a:prstGeom prst="rect">
                <a:avLst/>
              </a:prstGeom>
              <a:blipFill>
                <a:blip r:embed="rId6"/>
                <a:stretch>
                  <a:fillRect l="-10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18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18604" y="473985"/>
            <a:ext cx="3317801" cy="2907024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" y="4068765"/>
            <a:ext cx="3633781" cy="2401456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10748674" y="6308581"/>
            <a:ext cx="1077751" cy="32328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3FD0229-30FB-4A6E-9996-DF720F4920A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FF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609585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altLang="pt-BR" sz="1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BIBLIOGRAFIA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338F0F-B80D-44E5-9031-373E22B8E2DD}"/>
              </a:ext>
            </a:extLst>
          </p:cNvPr>
          <p:cNvSpPr txBox="1"/>
          <p:nvPr/>
        </p:nvSpPr>
        <p:spPr>
          <a:xfrm>
            <a:off x="1175120" y="757910"/>
            <a:ext cx="78488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b="1" dirty="0">
                <a:solidFill>
                  <a:srgbClr val="FF0066"/>
                </a:solidFill>
                <a:latin typeface="Calibri" panose="020F0502020204030204" pitchFamily="34" charset="0"/>
              </a:rPr>
              <a:t>BIBLIOTECA VIRTUAL/ FIAP</a:t>
            </a:r>
            <a:endParaRPr lang="pt-BR" altLang="pt-BR" sz="1800" b="1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pt-BR" altLang="pt-BR" sz="1800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dirty="0">
                <a:latin typeface="Calibri" panose="020F0502020204030204" pitchFamily="34" charset="0"/>
              </a:rPr>
              <a:t>THOMAS, George B.</a:t>
            </a:r>
            <a:r>
              <a:rPr lang="pt-BR" altLang="pt-BR" sz="1800" b="1" dirty="0">
                <a:latin typeface="Calibri" panose="020F0502020204030204" pitchFamily="34" charset="0"/>
              </a:rPr>
              <a:t> Cálculo</a:t>
            </a:r>
            <a:r>
              <a:rPr lang="pt-BR" altLang="pt-BR" sz="1800" dirty="0">
                <a:latin typeface="Calibri" panose="020F0502020204030204" pitchFamily="34" charset="0"/>
              </a:rPr>
              <a:t>. Editora Pearson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pt-BR" altLang="pt-BR" sz="1800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dirty="0">
                <a:latin typeface="Calibri" panose="020F0502020204030204" pitchFamily="34" charset="0"/>
              </a:rPr>
              <a:t>FLEMMING, Diva M. </a:t>
            </a:r>
            <a:r>
              <a:rPr lang="pt-BR" altLang="pt-BR" sz="1800" b="1" dirty="0">
                <a:latin typeface="Calibri" panose="020F0502020204030204" pitchFamily="34" charset="0"/>
              </a:rPr>
              <a:t>Cálculo A/ Cálculo B</a:t>
            </a:r>
            <a:r>
              <a:rPr lang="pt-BR" altLang="pt-BR" sz="1800" dirty="0">
                <a:latin typeface="Calibri" panose="020F0502020204030204" pitchFamily="34" charset="0"/>
              </a:rPr>
              <a:t>. Editora Pearson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pt-BR" altLang="pt-BR" sz="1800" dirty="0">
              <a:latin typeface="Calibri" panose="020F0502020204030204" pitchFamily="34" charset="0"/>
            </a:endParaRP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pt-BR" altLang="pt-BR" sz="1800" dirty="0">
                <a:latin typeface="Calibri" panose="020F0502020204030204" pitchFamily="34" charset="0"/>
              </a:rPr>
              <a:t>RODRIGUES, André C.D. </a:t>
            </a:r>
            <a:r>
              <a:rPr lang="pt-BR" altLang="pt-BR" sz="1800" b="1" dirty="0">
                <a:latin typeface="Calibri" panose="020F0502020204030204" pitchFamily="34" charset="0"/>
              </a:rPr>
              <a:t>Cálculo </a:t>
            </a:r>
            <a:r>
              <a:rPr lang="pt-BR" altLang="pt-BR" sz="1800" b="1" dirty="0">
                <a:solidFill>
                  <a:schemeClr val="bg1"/>
                </a:solidFill>
                <a:latin typeface="Calibri" panose="020F0502020204030204" pitchFamily="34" charset="0"/>
              </a:rPr>
              <a:t>Integral e Diferencial</a:t>
            </a:r>
            <a:r>
              <a:rPr lang="pt-BR" altLang="pt-BR" sz="1800" dirty="0">
                <a:solidFill>
                  <a:schemeClr val="bg1"/>
                </a:solidFill>
                <a:latin typeface="Calibri" panose="020F0502020204030204" pitchFamily="34" charset="0"/>
              </a:rPr>
              <a:t>. Editora Intersaberes</a:t>
            </a:r>
          </a:p>
        </p:txBody>
      </p:sp>
    </p:spTree>
    <p:extLst>
      <p:ext uri="{BB962C8B-B14F-4D97-AF65-F5344CB8AC3E}">
        <p14:creationId xmlns:p14="http://schemas.microsoft.com/office/powerpoint/2010/main" val="220636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87E52000D43248A94C18BF0B36B1D8" ma:contentTypeVersion="2" ma:contentTypeDescription="Crie um novo documento." ma:contentTypeScope="" ma:versionID="2ad4ef7db2006da4bd812b73442d9f01">
  <xsd:schema xmlns:xsd="http://www.w3.org/2001/XMLSchema" xmlns:xs="http://www.w3.org/2001/XMLSchema" xmlns:p="http://schemas.microsoft.com/office/2006/metadata/properties" xmlns:ns2="273e3910-5cc7-4656-b525-a71580039df0" targetNamespace="http://schemas.microsoft.com/office/2006/metadata/properties" ma:root="true" ma:fieldsID="c09b01df3fcea61820a2d1121af1cbff" ns2:_="">
    <xsd:import namespace="273e3910-5cc7-4656-b525-a71580039d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e3910-5cc7-4656-b525-a71580039d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CC0CC5-D507-4D30-B110-F0B8ADA821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6F4D8A-3282-48E4-AFF9-190F1C45920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6F25758-0792-47F7-B0D9-B0B3567B01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3e3910-5cc7-4656-b525-a71580039d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8988</TotalTime>
  <Words>619</Words>
  <Application>Microsoft Office PowerPoint</Application>
  <PresentationFormat>Widescreen</PresentationFormat>
  <Paragraphs>186</Paragraphs>
  <Slides>42</Slides>
  <Notes>42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0" baseType="lpstr">
      <vt:lpstr>Arial</vt:lpstr>
      <vt:lpstr>Arial Nova</vt:lpstr>
      <vt:lpstr>Calibri</vt:lpstr>
      <vt:lpstr>Cambria Math</vt:lpstr>
      <vt:lpstr>Lucida Calligraphy</vt:lpstr>
      <vt:lpstr>Tahoma</vt:lpstr>
      <vt:lpstr>Office Theme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Marcelo Nakagawa</dc:creator>
  <cp:lastModifiedBy>Ismael de Araujo Silva</cp:lastModifiedBy>
  <cp:revision>746</cp:revision>
  <cp:lastPrinted>2015-09-12T11:53:34Z</cp:lastPrinted>
  <dcterms:created xsi:type="dcterms:W3CDTF">2014-08-08T14:56:44Z</dcterms:created>
  <dcterms:modified xsi:type="dcterms:W3CDTF">2023-02-26T19:56:15Z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0x010100EC87E52000D43248A94C18BF0B36B1D8</vt:lpwstr>
  </property>
</Properties>
</file>